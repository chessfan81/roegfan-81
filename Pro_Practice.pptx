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81" r:id="rId2"/>
    <p:sldId id="282" r:id="rId3"/>
    <p:sldId id="264" r:id="rId4"/>
    <p:sldId id="265" r:id="rId5"/>
    <p:sldId id="278" r:id="rId6"/>
    <p:sldId id="267" r:id="rId7"/>
    <p:sldId id="269" r:id="rId8"/>
    <p:sldId id="262" r:id="rId9"/>
    <p:sldId id="275" r:id="rId10"/>
    <p:sldId id="276" r:id="rId11"/>
    <p:sldId id="260" r:id="rId12"/>
    <p:sldId id="261" r:id="rId13"/>
    <p:sldId id="271" r:id="rId14"/>
    <p:sldId id="272" r:id="rId15"/>
    <p:sldId id="279" r:id="rId16"/>
    <p:sldId id="280" r:id="rId17"/>
    <p:sldId id="273" r:id="rId18"/>
    <p:sldId id="274" r:id="rId19"/>
    <p:sldId id="263" r:id="rId20"/>
    <p:sldId id="28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p:cViewPr varScale="1">
        <p:scale>
          <a:sx n="100" d="100"/>
          <a:sy n="100" d="100"/>
        </p:scale>
        <p:origin x="84"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CE322-DEAE-4F35-9DA2-3F26357B40CA}" type="datetimeFigureOut">
              <a:rPr lang="en-GB" smtClean="0"/>
              <a:t>18/04/2026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AC630-AAEB-4D23-B86C-F8DE56CFE90B}" type="slidenum">
              <a:rPr lang="en-GB" smtClean="0"/>
              <a:t>‹#›</a:t>
            </a:fld>
            <a:endParaRPr lang="en-GB"/>
          </a:p>
        </p:txBody>
      </p:sp>
    </p:spTree>
    <p:extLst>
      <p:ext uri="{BB962C8B-B14F-4D97-AF65-F5344CB8AC3E}">
        <p14:creationId xmlns:p14="http://schemas.microsoft.com/office/powerpoint/2010/main" val="2626542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BAC630-AAEB-4D23-B86C-F8DE56CFE90B}" type="slidenum">
              <a:rPr lang="en-GB" smtClean="0"/>
              <a:t>8</a:t>
            </a:fld>
            <a:endParaRPr lang="en-GB"/>
          </a:p>
        </p:txBody>
      </p:sp>
    </p:spTree>
    <p:extLst>
      <p:ext uri="{BB962C8B-B14F-4D97-AF65-F5344CB8AC3E}">
        <p14:creationId xmlns:p14="http://schemas.microsoft.com/office/powerpoint/2010/main" val="3495729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4C98-CBE9-8C0F-3CF4-EEE758A4BC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83BBF2B-DCFA-0988-E5DF-3046592879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962284F-A8A9-A358-5A67-1CB3226A3FF1}"/>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FC82A3DD-1D68-1B3D-C92E-24E7758DCF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FD1370-7480-9A3C-FCCE-EF0AB0C2B463}"/>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74252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A037-8E05-36BE-0A8F-E67F48E3843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A4673D-E8B5-7D9D-96D7-BBA49E78C3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64CA79B-3E13-B849-D744-50FB3968566A}"/>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2A33A50A-FBAA-941F-3EDF-A0A69BC4B2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C21C0F-EDF0-17F1-AC88-FE192760B8D3}"/>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2926330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298C-823C-C270-3FA6-39F4CCB1DC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D32007A-9DCA-6635-8BBD-FB919838A2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6FF8E7-56F6-166A-60C0-DE709C85C8D2}"/>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725307D9-C5D1-34DB-C41D-F9CCBCFA52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099B4F-999C-91AF-73D9-0FFD889DB646}"/>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1856278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6026-6DEA-9E57-D2CC-CD04B544D6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DBEEE30-E965-3849-FEE5-DB04B2647D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0519F4-4BBF-E1A5-8E5B-699E3A448C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71D1C4E-9963-DE8C-742A-279EFFF20F26}"/>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6" name="Footer Placeholder 5">
            <a:extLst>
              <a:ext uri="{FF2B5EF4-FFF2-40B4-BE49-F238E27FC236}">
                <a16:creationId xmlns:a16="http://schemas.microsoft.com/office/drawing/2014/main" id="{58A12873-F522-83D5-5203-C2F3BFC6C4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37A476-DCF0-17B7-D3AC-07A4F6370845}"/>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2670360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C851-106B-488E-8651-24E1CEFF0CD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74CD4BD-D76D-BF8F-5620-8CA28CB69D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2AB5EE-4084-6946-F127-CA90AEA986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8E22083-98A8-1657-43B6-3A755C763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04027-4597-98B8-D02E-028A9DF262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09973BE-155A-6085-982C-9AEC43CCBBCB}"/>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8" name="Footer Placeholder 7">
            <a:extLst>
              <a:ext uri="{FF2B5EF4-FFF2-40B4-BE49-F238E27FC236}">
                <a16:creationId xmlns:a16="http://schemas.microsoft.com/office/drawing/2014/main" id="{7DC7FF42-C6C4-DDE5-7317-5257BBAEBD6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909D24D-5D8F-04D6-4A1A-D8670E8E5DBC}"/>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2528148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3CAB6-BA6D-844D-2B91-EDEDE5926CA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01D980-FD94-73B0-6636-BA1DE7F2716B}"/>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4" name="Footer Placeholder 3">
            <a:extLst>
              <a:ext uri="{FF2B5EF4-FFF2-40B4-BE49-F238E27FC236}">
                <a16:creationId xmlns:a16="http://schemas.microsoft.com/office/drawing/2014/main" id="{B3955FB3-F5F7-0531-1660-9B5DC4A199F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939D122-BC02-B127-8DA2-1E310D091980}"/>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545010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CDAEF8-A6C7-159B-CEC3-50ED4D920F3A}"/>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3" name="Footer Placeholder 2">
            <a:extLst>
              <a:ext uri="{FF2B5EF4-FFF2-40B4-BE49-F238E27FC236}">
                <a16:creationId xmlns:a16="http://schemas.microsoft.com/office/drawing/2014/main" id="{795AF336-EF7C-1251-28FD-45D04C4269F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3A4DB51-C9B3-7BF6-BFDD-448F9871645F}"/>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774128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A99B-A362-1942-3ED5-FF24AB0FBE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C7D75B7-00C7-9F7C-8F56-CE0A102E03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97CE2E-A040-A911-9109-9FE595F48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45789D-BFF9-DF3E-DAA2-68ECF90EAD33}"/>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6" name="Footer Placeholder 5">
            <a:extLst>
              <a:ext uri="{FF2B5EF4-FFF2-40B4-BE49-F238E27FC236}">
                <a16:creationId xmlns:a16="http://schemas.microsoft.com/office/drawing/2014/main" id="{DF6C4037-FEC1-D5AC-412A-BCFBB1BE1A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1E12DD-9490-B8A8-6E48-1D96CEF26186}"/>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2803935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F7C1-8F74-4123-AD44-40533BB6D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45F98C-1460-3006-F57B-4C72BDD6A6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0E40945-B6B0-6376-82FC-F1C71B4AC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1D92CE-5395-F60D-13C6-BE37C7AB37DC}"/>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6" name="Footer Placeholder 5">
            <a:extLst>
              <a:ext uri="{FF2B5EF4-FFF2-40B4-BE49-F238E27FC236}">
                <a16:creationId xmlns:a16="http://schemas.microsoft.com/office/drawing/2014/main" id="{338C4E9D-B3E8-82D3-64DB-B644D98D0B1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DB98F2-3B59-9712-A04B-FDBC062C4806}"/>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3218428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F158B-EBCB-BE48-F2A6-4DE2D481355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8D51A9-B826-4784-38C9-8F1E28A5D1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ECAB38-3A13-6EB5-D939-A3D2D021E07C}"/>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B96911E3-7DA1-1C97-A266-CBAE0436C5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3FF8C2-AC74-48FC-87FF-BD6697C94AF5}"/>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361521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AF9A96-198C-4FD1-B8BF-B55DA46F8D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9245BA-3E85-0D85-D61D-9FADB5B583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C47794B-F621-A8E6-84E1-F0B996778054}"/>
              </a:ext>
            </a:extLst>
          </p:cNvPr>
          <p:cNvSpPr>
            <a:spLocks noGrp="1"/>
          </p:cNvSpPr>
          <p:nvPr>
            <p:ph type="dt" sz="half" idx="10"/>
          </p:nvPr>
        </p:nvSpPr>
        <p:spPr/>
        <p:txBody>
          <a:body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2DD71942-A04B-8A79-7F72-2D9A64E3C1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05C218-B0BC-EA74-71F4-DA98C42A07BE}"/>
              </a:ext>
            </a:extLst>
          </p:cNvPr>
          <p:cNvSpPr>
            <a:spLocks noGrp="1"/>
          </p:cNvSpPr>
          <p:nvPr>
            <p:ph type="sldNum" sz="quarter" idx="12"/>
          </p:nvPr>
        </p:nvSpPr>
        <p:spPr/>
        <p:txBody>
          <a:bodyPr/>
          <a:lstStyle/>
          <a:p>
            <a:fld id="{2E378564-D3CF-4B2E-B924-F2DBF77DD163}" type="slidenum">
              <a:rPr lang="en-GB" smtClean="0"/>
              <a:t>‹#›</a:t>
            </a:fld>
            <a:endParaRPr lang="en-GB"/>
          </a:p>
        </p:txBody>
      </p:sp>
    </p:spTree>
    <p:extLst>
      <p:ext uri="{BB962C8B-B14F-4D97-AF65-F5344CB8AC3E}">
        <p14:creationId xmlns:p14="http://schemas.microsoft.com/office/powerpoint/2010/main" val="2450569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1FE0A2-6945-8F27-0568-8BC103EC64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E3009D5-6682-99B6-4567-67F8D96DC2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839AA7-6BBC-4562-229C-9C49A24154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78FE81-29A7-474E-817C-EB2383FBF163}" type="datetimeFigureOut">
              <a:rPr lang="en-GB" smtClean="0"/>
              <a:t>18/04/2026</a:t>
            </a:fld>
            <a:endParaRPr lang="en-GB"/>
          </a:p>
        </p:txBody>
      </p:sp>
      <p:sp>
        <p:nvSpPr>
          <p:cNvPr id="5" name="Footer Placeholder 4">
            <a:extLst>
              <a:ext uri="{FF2B5EF4-FFF2-40B4-BE49-F238E27FC236}">
                <a16:creationId xmlns:a16="http://schemas.microsoft.com/office/drawing/2014/main" id="{42008A00-3392-89B8-6ED2-9673EB5AA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8ACA2A0-B914-55F3-3E4B-445A358F4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378564-D3CF-4B2E-B924-F2DBF77DD163}" type="slidenum">
              <a:rPr lang="en-GB" smtClean="0"/>
              <a:t>‹#›</a:t>
            </a:fld>
            <a:endParaRPr lang="en-GB"/>
          </a:p>
        </p:txBody>
      </p:sp>
    </p:spTree>
    <p:extLst>
      <p:ext uri="{BB962C8B-B14F-4D97-AF65-F5344CB8AC3E}">
        <p14:creationId xmlns:p14="http://schemas.microsoft.com/office/powerpoint/2010/main" val="2906585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hyperlink" Target="https://data.worldbank.org/indicator/SP.POP.TOTL?locations=US" TargetMode="External"/><Relationship Id="rId3" Type="http://schemas.openxmlformats.org/officeDocument/2006/relationships/hyperlink" Target="https://otexts.com/fpp3" TargetMode="External"/><Relationship Id="rId7" Type="http://schemas.openxmlformats.org/officeDocument/2006/relationships/hyperlink" Target="https://www.ons.gov.uk/economy/inflationandpriceindices" TargetMode="External"/><Relationship Id="rId2" Type="http://schemas.openxmlformats.org/officeDocument/2006/relationships/hyperlink" Target="https://www.the-modeling-agency.com/crisp-dm.pdf" TargetMode="External"/><Relationship Id="rId1" Type="http://schemas.openxmlformats.org/officeDocument/2006/relationships/slideLayout" Target="../slideLayouts/slideLayout1.xml"/><Relationship Id="rId6" Type="http://schemas.openxmlformats.org/officeDocument/2006/relationships/hyperlink" Target="https://www.kaggle.com/datasets/murderaccountability/homicide-reports" TargetMode="External"/><Relationship Id="rId5" Type="http://schemas.openxmlformats.org/officeDocument/2006/relationships/hyperlink" Target="https://www.gartner.com/" TargetMode="External"/><Relationship Id="rId4" Type="http://schemas.openxmlformats.org/officeDocument/2006/relationships/hyperlink" Target="https://ec.europa.eu/digital-single-market/en/news/ethics-guidelines-trustworthy-ai"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claude.ai/"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803FA0-076A-98CA-BF6B-9B059FC9B51A}"/>
              </a:ext>
            </a:extLst>
          </p:cNvPr>
          <p:cNvPicPr>
            <a:picLocks noChangeAspect="1"/>
          </p:cNvPicPr>
          <p:nvPr/>
        </p:nvPicPr>
        <p:blipFill>
          <a:blip r:embed="rId2"/>
          <a:stretch>
            <a:fillRect/>
          </a:stretch>
        </p:blipFill>
        <p:spPr>
          <a:xfrm>
            <a:off x="2047310" y="104311"/>
            <a:ext cx="8097380" cy="6649378"/>
          </a:xfrm>
          <a:prstGeom prst="rect">
            <a:avLst/>
          </a:prstGeom>
        </p:spPr>
      </p:pic>
    </p:spTree>
    <p:extLst>
      <p:ext uri="{BB962C8B-B14F-4D97-AF65-F5344CB8AC3E}">
        <p14:creationId xmlns:p14="http://schemas.microsoft.com/office/powerpoint/2010/main" val="4144810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8D40D9-AE22-8A5A-4AED-345CCC6E353A}"/>
              </a:ext>
            </a:extLst>
          </p:cNvPr>
          <p:cNvPicPr>
            <a:picLocks noChangeAspect="1"/>
          </p:cNvPicPr>
          <p:nvPr/>
        </p:nvPicPr>
        <p:blipFill>
          <a:blip r:embed="rId2"/>
          <a:stretch>
            <a:fillRect/>
          </a:stretch>
        </p:blipFill>
        <p:spPr>
          <a:xfrm>
            <a:off x="2233073" y="223390"/>
            <a:ext cx="7725853" cy="6411220"/>
          </a:xfrm>
          <a:prstGeom prst="rect">
            <a:avLst/>
          </a:prstGeom>
        </p:spPr>
      </p:pic>
    </p:spTree>
    <p:extLst>
      <p:ext uri="{BB962C8B-B14F-4D97-AF65-F5344CB8AC3E}">
        <p14:creationId xmlns:p14="http://schemas.microsoft.com/office/powerpoint/2010/main" val="332893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90A5F2-36E1-B4DD-76D6-4688EFCD8DE5}"/>
              </a:ext>
            </a:extLst>
          </p:cNvPr>
          <p:cNvSpPr txBox="1"/>
          <p:nvPr/>
        </p:nvSpPr>
        <p:spPr>
          <a:xfrm>
            <a:off x="560832" y="256032"/>
            <a:ext cx="10908792" cy="6001643"/>
          </a:xfrm>
          <a:prstGeom prst="rect">
            <a:avLst/>
          </a:prstGeom>
          <a:noFill/>
        </p:spPr>
        <p:txBody>
          <a:bodyPr wrap="square" rtlCol="0">
            <a:spAutoFit/>
          </a:bodyPr>
          <a:lstStyle/>
          <a:p>
            <a:r>
              <a:rPr lang="en-US" b="1" dirty="0">
                <a:solidFill>
                  <a:srgbClr val="FF0000"/>
                </a:solidFill>
                <a:latin typeface="Arial" panose="020B0604020202020204" pitchFamily="34" charset="0"/>
                <a:cs typeface="Arial" panose="020B0604020202020204" pitchFamily="34" charset="0"/>
              </a:rPr>
              <a:t>Executive Summary  </a:t>
            </a:r>
          </a:p>
          <a:p>
            <a:endParaRPr lang="en-US" sz="1600" b="1" dirty="0">
              <a:solidFill>
                <a:srgbClr val="FF0000"/>
              </a:solidFill>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US Homicide Time Series Analysis</a:t>
            </a:r>
          </a:p>
          <a:p>
            <a:endParaRPr lang="en-US" sz="1600" b="1" dirty="0">
              <a:solidFill>
                <a:srgbClr val="FF0000"/>
              </a:solidFill>
              <a:latin typeface="Arial" panose="020B0604020202020204" pitchFamily="34" charset="0"/>
              <a:cs typeface="Arial" panose="020B0604020202020204" pitchFamily="34" charset="0"/>
            </a:endParaRPr>
          </a:p>
          <a:p>
            <a:r>
              <a:rPr lang="en-US" sz="1600" dirty="0"/>
              <a:t>This analysis applies </a:t>
            </a:r>
            <a:r>
              <a:rPr lang="en-US" sz="1600" dirty="0">
                <a:solidFill>
                  <a:srgbClr val="FF0000"/>
                </a:solidFill>
              </a:rPr>
              <a:t>ARIMA time series </a:t>
            </a:r>
            <a:r>
              <a:rPr lang="en-US" sz="1600" dirty="0"/>
              <a:t>modelling to US homicide data spanning 1980 to 2014, sourced from a </a:t>
            </a:r>
            <a:r>
              <a:rPr lang="en-US" sz="1600" dirty="0">
                <a:solidFill>
                  <a:srgbClr val="FF0000"/>
                </a:solidFill>
              </a:rPr>
              <a:t>Kaggle</a:t>
            </a:r>
            <a:r>
              <a:rPr lang="en-US" sz="1600" dirty="0"/>
              <a:t> dataset of 638,454 records. The central hypothesis </a:t>
            </a:r>
            <a:r>
              <a:rPr lang="en-US" sz="1600" dirty="0">
                <a:solidFill>
                  <a:srgbClr val="FF0000"/>
                </a:solidFill>
              </a:rPr>
              <a:t>(H1</a:t>
            </a:r>
            <a:r>
              <a:rPr lang="en-US" sz="1600" dirty="0"/>
              <a:t>) is that the decline follows a statistically predictable autoregressive structure, measurable and forecastable using ARIMA modelling.</a:t>
            </a:r>
          </a:p>
          <a:p>
            <a:endParaRPr lang="en-US" sz="1600" dirty="0"/>
          </a:p>
          <a:p>
            <a:r>
              <a:rPr lang="en-US" sz="1600" dirty="0"/>
              <a:t>An Augmented </a:t>
            </a:r>
            <a:r>
              <a:rPr lang="en-US" sz="1600" dirty="0">
                <a:solidFill>
                  <a:srgbClr val="FF0000"/>
                </a:solidFill>
              </a:rPr>
              <a:t>Dickey-Fuller test </a:t>
            </a:r>
            <a:r>
              <a:rPr lang="en-US" sz="1600" dirty="0"/>
              <a:t>confirmed non-stationarity (p=0.50), justifying ARIMA over ARMA. </a:t>
            </a:r>
            <a:r>
              <a:rPr lang="en-US" sz="1600" dirty="0">
                <a:solidFill>
                  <a:srgbClr val="FF0000"/>
                </a:solidFill>
              </a:rPr>
              <a:t>ACF</a:t>
            </a:r>
            <a:r>
              <a:rPr lang="en-US" sz="1600" dirty="0"/>
              <a:t> and </a:t>
            </a:r>
            <a:r>
              <a:rPr lang="en-US" sz="1600" dirty="0">
                <a:solidFill>
                  <a:srgbClr val="FF0000"/>
                </a:solidFill>
              </a:rPr>
              <a:t>PACF</a:t>
            </a:r>
            <a:r>
              <a:rPr lang="en-US" sz="1600" dirty="0"/>
              <a:t> plots identified ARIMA(1,1,1) as optimal model order. Trained on 1980–2000 data and evaluated against 2001–2014 actuals, the model achieved a </a:t>
            </a:r>
            <a:r>
              <a:rPr lang="en-US" sz="1600" dirty="0">
                <a:solidFill>
                  <a:srgbClr val="FF0000"/>
                </a:solidFill>
              </a:rPr>
              <a:t>Mean Absolute Error of 7.2% </a:t>
            </a:r>
            <a:r>
              <a:rPr lang="en-US" sz="1600" dirty="0"/>
              <a:t>— strong predictive performance given 21 training observations. ARIMA was selected over Prophet and simple linear regression due to transparency and alignment with established literature (Box and Jenkins, 1976).</a:t>
            </a:r>
          </a:p>
          <a:p>
            <a:endParaRPr lang="en-US" sz="1600" dirty="0"/>
          </a:p>
          <a:p>
            <a:r>
              <a:rPr lang="en-US" sz="1600" dirty="0"/>
              <a:t>EDA revealed a national peak of 24,335 homicides in 1993, sharp decline to ~14,000 by 2000 and stabilization thereafter. Convergent trends across White and Black victim groups and male and female victims suggest </a:t>
            </a:r>
            <a:r>
              <a:rPr lang="en-US" sz="1600" dirty="0">
                <a:solidFill>
                  <a:srgbClr val="FF0000"/>
                </a:solidFill>
              </a:rPr>
              <a:t>macro structural forces </a:t>
            </a:r>
            <a:r>
              <a:rPr lang="en-US" sz="1600" dirty="0"/>
              <a:t>drove the decline. Counts were normalized against US population data revealing the true scale of decline. </a:t>
            </a:r>
          </a:p>
          <a:p>
            <a:endParaRPr lang="en-US" sz="1600" dirty="0"/>
          </a:p>
          <a:p>
            <a:r>
              <a:rPr lang="en-US" sz="1600" dirty="0"/>
              <a:t>Ethical considerations include responsible presentation of race disaggregated data, administrative racial classification bias, intersectionality as a structural limitation and data privacy — the dataset is fully anonymized under Kaggle's open license. </a:t>
            </a:r>
          </a:p>
          <a:p>
            <a:endParaRPr lang="en-US" sz="1600" dirty="0"/>
          </a:p>
          <a:p>
            <a:r>
              <a:rPr lang="en-US" sz="1600" dirty="0"/>
              <a:t>Methodology transfers directly to commercial forecasting as demonstrated in Part 2.</a:t>
            </a:r>
          </a:p>
          <a:p>
            <a:endParaRPr lang="en-US" sz="1400" dirty="0"/>
          </a:p>
        </p:txBody>
      </p:sp>
    </p:spTree>
    <p:extLst>
      <p:ext uri="{BB962C8B-B14F-4D97-AF65-F5344CB8AC3E}">
        <p14:creationId xmlns:p14="http://schemas.microsoft.com/office/powerpoint/2010/main" val="329726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14B0D0-9429-40E9-AE65-92C640906091}"/>
              </a:ext>
            </a:extLst>
          </p:cNvPr>
          <p:cNvSpPr txBox="1"/>
          <p:nvPr/>
        </p:nvSpPr>
        <p:spPr>
          <a:xfrm>
            <a:off x="512064" y="187452"/>
            <a:ext cx="11018520" cy="5878532"/>
          </a:xfrm>
          <a:prstGeom prst="rect">
            <a:avLst/>
          </a:prstGeom>
          <a:noFill/>
        </p:spPr>
        <p:txBody>
          <a:bodyPr wrap="square" rtlCol="0">
            <a:spAutoFit/>
          </a:bodyPr>
          <a:lstStyle/>
          <a:p>
            <a:r>
              <a:rPr lang="en-GB" b="1" dirty="0">
                <a:solidFill>
                  <a:srgbClr val="FF0000"/>
                </a:solidFill>
              </a:rPr>
              <a:t>Data Infrastructure and Tools</a:t>
            </a:r>
          </a:p>
          <a:p>
            <a:endParaRPr lang="en-GB" dirty="0"/>
          </a:p>
          <a:p>
            <a:r>
              <a:rPr lang="en-GB" sz="1400" b="1" dirty="0"/>
              <a:t>Data Ecosystem:</a:t>
            </a:r>
          </a:p>
          <a:p>
            <a:endParaRPr lang="en-GB" sz="1400" dirty="0"/>
          </a:p>
          <a:p>
            <a:r>
              <a:rPr lang="en-GB" sz="1400" dirty="0">
                <a:solidFill>
                  <a:srgbClr val="FF0000"/>
                </a:solidFill>
              </a:rPr>
              <a:t>Excel</a:t>
            </a:r>
            <a:r>
              <a:rPr lang="en-GB" sz="1400" dirty="0"/>
              <a:t> — CSV downloaded from Kaggle. Familiar and accessible. Limitation: not scalable, manual processes.</a:t>
            </a:r>
          </a:p>
          <a:p>
            <a:r>
              <a:rPr lang="en-GB" sz="1400" dirty="0">
                <a:solidFill>
                  <a:srgbClr val="FF0000"/>
                </a:solidFill>
              </a:rPr>
              <a:t>Python/Jupyter Notebook </a:t>
            </a:r>
            <a:r>
              <a:rPr lang="en-GB" sz="1400" dirty="0"/>
              <a:t>— Open source, reproducible, rich statistical libraries. Limitation: requires coding expertise</a:t>
            </a:r>
          </a:p>
          <a:p>
            <a:r>
              <a:rPr lang="en-GB" sz="1400" dirty="0">
                <a:solidFill>
                  <a:srgbClr val="FF0000"/>
                </a:solidFill>
              </a:rPr>
              <a:t>Power BI </a:t>
            </a:r>
            <a:r>
              <a:rPr lang="en-GB" sz="1400" dirty="0"/>
              <a:t>— interactive dashboards, accessible to nontechnical stakeholders. Limitation: limited statistical modelling capability</a:t>
            </a:r>
          </a:p>
          <a:p>
            <a:r>
              <a:rPr lang="en-GB" sz="1400" dirty="0">
                <a:solidFill>
                  <a:srgbClr val="FF0000"/>
                </a:solidFill>
              </a:rPr>
              <a:t>GitHub Pages </a:t>
            </a:r>
            <a:r>
              <a:rPr lang="en-GB" sz="1400" dirty="0"/>
              <a:t>— version control, reproducible open access notebook hosting. Limitation: static, no live data integration</a:t>
            </a:r>
          </a:p>
          <a:p>
            <a:endParaRPr lang="en-GB" sz="1400" dirty="0"/>
          </a:p>
          <a:p>
            <a:r>
              <a:rPr lang="en-US" sz="1400" b="1" dirty="0"/>
              <a:t>How Tools Connect:</a:t>
            </a:r>
          </a:p>
          <a:p>
            <a:endParaRPr lang="en-US" sz="1400" dirty="0"/>
          </a:p>
          <a:p>
            <a:r>
              <a:rPr lang="en-US" sz="1400" dirty="0"/>
              <a:t>Excel stores raw data → Power BI enables interactive exploration with time charts and demographic slicers to identify patterns → Python performs deeper statistical modelling and ARIMA analysis → GitHub Pages hosts reproducible notebook output</a:t>
            </a:r>
          </a:p>
          <a:p>
            <a:endParaRPr lang="en-US" sz="1400" dirty="0"/>
          </a:p>
          <a:p>
            <a:r>
              <a:rPr lang="en-US" sz="1400" dirty="0"/>
              <a:t>A basic report was built in Power BI first — including time series trend chart sliceable by race, gender and state — to identify patterns before committing to Python implementation</a:t>
            </a:r>
          </a:p>
          <a:p>
            <a:r>
              <a:rPr lang="en-US" sz="1400" dirty="0"/>
              <a:t>This workflow reflects separation of operational and analytical environments (Inmon, 2005)</a:t>
            </a:r>
          </a:p>
          <a:p>
            <a:endParaRPr lang="en-GB" sz="1400" dirty="0"/>
          </a:p>
          <a:p>
            <a:endParaRPr lang="en-GB" sz="1400" dirty="0"/>
          </a:p>
          <a:p>
            <a:r>
              <a:rPr lang="en-GB" sz="1400" b="1" dirty="0"/>
              <a:t>Emerging Trends in Data Infrastructure:</a:t>
            </a:r>
          </a:p>
          <a:p>
            <a:endParaRPr lang="en-GB" sz="1400" dirty="0"/>
          </a:p>
          <a:p>
            <a:r>
              <a:rPr lang="en-GB" sz="1400" dirty="0"/>
              <a:t>Cloud platforms — Azure, AWS, Databricks replacing local Python environments for scalability</a:t>
            </a:r>
          </a:p>
          <a:p>
            <a:r>
              <a:rPr lang="en-GB" sz="1400" dirty="0"/>
              <a:t>Automated </a:t>
            </a:r>
            <a:r>
              <a:rPr lang="en-GB" sz="1400" dirty="0" err="1"/>
              <a:t>DataOps</a:t>
            </a:r>
            <a:r>
              <a:rPr lang="en-GB" sz="1400" dirty="0"/>
              <a:t> pipelines replacing manual Excel and CSV workflows</a:t>
            </a:r>
          </a:p>
          <a:p>
            <a:endParaRPr lang="en-US" sz="1400" dirty="0"/>
          </a:p>
          <a:p>
            <a:endParaRPr lang="en-US" sz="1400" dirty="0"/>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372105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9A3256-2EFE-7DB4-2325-08D5792E7162}"/>
              </a:ext>
            </a:extLst>
          </p:cNvPr>
          <p:cNvSpPr txBox="1"/>
          <p:nvPr/>
        </p:nvSpPr>
        <p:spPr>
          <a:xfrm>
            <a:off x="402336" y="164592"/>
            <a:ext cx="11045952" cy="6678751"/>
          </a:xfrm>
          <a:prstGeom prst="rect">
            <a:avLst/>
          </a:prstGeom>
          <a:noFill/>
        </p:spPr>
        <p:txBody>
          <a:bodyPr wrap="square" rtlCol="0">
            <a:spAutoFit/>
          </a:bodyPr>
          <a:lstStyle/>
          <a:p>
            <a:r>
              <a:rPr lang="en-GB" b="1" dirty="0">
                <a:solidFill>
                  <a:srgbClr val="FF0000"/>
                </a:solidFill>
              </a:rPr>
              <a:t>Data Engineering</a:t>
            </a:r>
          </a:p>
          <a:p>
            <a:endParaRPr lang="en-GB" sz="1400" b="1" dirty="0"/>
          </a:p>
          <a:p>
            <a:r>
              <a:rPr lang="en-US" sz="1400" b="1" dirty="0"/>
              <a:t>Dataset Quality:</a:t>
            </a:r>
          </a:p>
          <a:p>
            <a:endParaRPr lang="en-US" sz="1400" dirty="0"/>
          </a:p>
          <a:p>
            <a:r>
              <a:rPr lang="en-US" sz="1400" dirty="0"/>
              <a:t>Kaggle usability score 8.6/10 — relatively clean and well structured</a:t>
            </a:r>
          </a:p>
          <a:p>
            <a:r>
              <a:rPr lang="en-US" sz="1400" dirty="0"/>
              <a:t>638,454 records spanning 35 years — sufficient volume for time series analysis</a:t>
            </a:r>
          </a:p>
          <a:p>
            <a:r>
              <a:rPr lang="en-US" sz="1400" dirty="0"/>
              <a:t>Key columns selected: </a:t>
            </a:r>
            <a:r>
              <a:rPr lang="en-US" sz="1400" dirty="0">
                <a:solidFill>
                  <a:srgbClr val="FF0000"/>
                </a:solidFill>
              </a:rPr>
              <a:t>Year, Month, Victim Race, Victim Sex, Record ID </a:t>
            </a:r>
            <a:r>
              <a:rPr lang="en-US" sz="1400" dirty="0"/>
              <a:t>— selection justified by research question focus on temporal and demographic trends</a:t>
            </a:r>
          </a:p>
          <a:p>
            <a:endParaRPr lang="en-US" sz="1400" dirty="0"/>
          </a:p>
          <a:p>
            <a:r>
              <a:rPr lang="en-US" sz="1400" b="1" dirty="0"/>
              <a:t>DAMA DMBOK Quality Assessment (DAMA International, 2017):</a:t>
            </a:r>
          </a:p>
          <a:p>
            <a:endParaRPr lang="en-US" sz="1400" dirty="0"/>
          </a:p>
          <a:p>
            <a:r>
              <a:rPr lang="en-US" sz="1400" dirty="0">
                <a:solidFill>
                  <a:srgbClr val="FF0000"/>
                </a:solidFill>
              </a:rPr>
              <a:t>Completeness </a:t>
            </a:r>
            <a:r>
              <a:rPr lang="en-US" sz="1400" dirty="0"/>
              <a:t>— “Unknown” race and sex categories identified, likely </a:t>
            </a:r>
            <a:r>
              <a:rPr lang="en-US" sz="1400" dirty="0">
                <a:solidFill>
                  <a:srgbClr val="FF0000"/>
                </a:solidFill>
              </a:rPr>
              <a:t>Missing not at Random (MNAR)</a:t>
            </a:r>
            <a:r>
              <a:rPr lang="en-US" sz="1400" dirty="0"/>
              <a:t> suggesting systemic rather than random recording gaps (Rubin 1976).</a:t>
            </a:r>
          </a:p>
          <a:p>
            <a:r>
              <a:rPr lang="en-US" sz="1400" dirty="0">
                <a:solidFill>
                  <a:srgbClr val="FF0000"/>
                </a:solidFill>
              </a:rPr>
              <a:t>Timeliness</a:t>
            </a:r>
            <a:r>
              <a:rPr lang="en-US" sz="1400" dirty="0"/>
              <a:t> — all records fall within 1980–2014 period</a:t>
            </a:r>
          </a:p>
          <a:p>
            <a:r>
              <a:rPr lang="en-US" sz="1400" dirty="0">
                <a:solidFill>
                  <a:srgbClr val="FF0000"/>
                </a:solidFill>
              </a:rPr>
              <a:t>Validity </a:t>
            </a:r>
            <a:r>
              <a:rPr lang="en-US" sz="1400" dirty="0"/>
              <a:t>— Month stored as text, transformed to numeric for time series compatibility</a:t>
            </a:r>
          </a:p>
          <a:p>
            <a:r>
              <a:rPr lang="en-US" sz="1400" dirty="0">
                <a:solidFill>
                  <a:srgbClr val="FF0000"/>
                </a:solidFill>
              </a:rPr>
              <a:t>Uniqueness </a:t>
            </a:r>
            <a:r>
              <a:rPr lang="en-US" sz="1400" dirty="0"/>
              <a:t>— Record ID confirmed no duplicate entries</a:t>
            </a:r>
          </a:p>
          <a:p>
            <a:endParaRPr lang="en-US" sz="1400" dirty="0"/>
          </a:p>
          <a:p>
            <a:r>
              <a:rPr lang="en-US" sz="1400" b="1" dirty="0"/>
              <a:t>Data Transformation Decisions:</a:t>
            </a:r>
          </a:p>
          <a:p>
            <a:endParaRPr lang="en-US" sz="1400" dirty="0"/>
          </a:p>
          <a:p>
            <a:r>
              <a:rPr lang="en-US" sz="1400" dirty="0"/>
              <a:t>Annual aggregation chosen over monthly — sufficient granularity for structural trend analysis while reducing noise</a:t>
            </a:r>
          </a:p>
          <a:p>
            <a:r>
              <a:rPr lang="en-US" sz="1400" dirty="0"/>
              <a:t>Population normalization applied (* this will be done for summative) — raw counts misleading across growing population, rates per 100,000 reveal true decline (Blumstein, 2000)</a:t>
            </a:r>
          </a:p>
          <a:p>
            <a:r>
              <a:rPr lang="en-US" sz="1400" dirty="0"/>
              <a:t>“Unknown” race category retained but documented — removal would introduce systematic bias</a:t>
            </a:r>
          </a:p>
          <a:p>
            <a:r>
              <a:rPr lang="en-US" sz="1400" dirty="0"/>
              <a:t>ETL approach follows clean separation between raw sourced data and analytical dataset (Kimball and Caserta, 2011)</a:t>
            </a:r>
          </a:p>
          <a:p>
            <a:endParaRPr lang="en-US" sz="1400" dirty="0"/>
          </a:p>
          <a:p>
            <a:r>
              <a:rPr lang="en-US" sz="1400" b="1" dirty="0"/>
              <a:t>Feature Engineering:</a:t>
            </a:r>
          </a:p>
          <a:p>
            <a:endParaRPr lang="en-US" sz="1400" dirty="0"/>
          </a:p>
          <a:p>
            <a:r>
              <a:rPr lang="en-US" sz="1400" dirty="0"/>
              <a:t>Train/test split at year 2000 — reflects structural stabilization observed in EDA, prevents data leakage</a:t>
            </a:r>
          </a:p>
          <a:p>
            <a:r>
              <a:rPr lang="en-US" sz="1400" dirty="0"/>
              <a:t>Preprocessing documented in Jupyter notebook ensuring full reproducibility</a:t>
            </a:r>
          </a:p>
          <a:p>
            <a:endParaRPr lang="en-GB" dirty="0"/>
          </a:p>
        </p:txBody>
      </p:sp>
    </p:spTree>
    <p:extLst>
      <p:ext uri="{BB962C8B-B14F-4D97-AF65-F5344CB8AC3E}">
        <p14:creationId xmlns:p14="http://schemas.microsoft.com/office/powerpoint/2010/main" val="4193666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1A914D-F8D7-3A85-7B0B-5AC8B04C51C3}"/>
              </a:ext>
            </a:extLst>
          </p:cNvPr>
          <p:cNvSpPr txBox="1"/>
          <p:nvPr/>
        </p:nvSpPr>
        <p:spPr>
          <a:xfrm>
            <a:off x="450937" y="77842"/>
            <a:ext cx="11018520" cy="8833187"/>
          </a:xfrm>
          <a:prstGeom prst="rect">
            <a:avLst/>
          </a:prstGeom>
          <a:noFill/>
        </p:spPr>
        <p:txBody>
          <a:bodyPr wrap="square" rtlCol="0">
            <a:spAutoFit/>
          </a:bodyPr>
          <a:lstStyle/>
          <a:p>
            <a:r>
              <a:rPr lang="en-US" b="1" dirty="0">
                <a:solidFill>
                  <a:srgbClr val="FF0000"/>
                </a:solidFill>
              </a:rPr>
              <a:t>Data Visualization and Dashboards</a:t>
            </a:r>
          </a:p>
          <a:p>
            <a:endParaRPr lang="en-US" sz="1400" b="1" dirty="0"/>
          </a:p>
          <a:p>
            <a:r>
              <a:rPr lang="en-US" sz="1400" b="1" dirty="0"/>
              <a:t>Target Audience:</a:t>
            </a:r>
          </a:p>
          <a:p>
            <a:endParaRPr lang="en-US" sz="1400" dirty="0"/>
          </a:p>
          <a:p>
            <a:r>
              <a:rPr lang="en-US" sz="1400" dirty="0"/>
              <a:t>Academic and portfolio context — emphasis on statistical transparency over executive dashboard style</a:t>
            </a:r>
          </a:p>
          <a:p>
            <a:r>
              <a:rPr lang="en-US" sz="1400" dirty="0"/>
              <a:t>Designed for data science practitioners and academic reviewers — not general stakeholder reporting</a:t>
            </a:r>
          </a:p>
          <a:p>
            <a:endParaRPr lang="en-US" sz="1400" dirty="0"/>
          </a:p>
          <a:p>
            <a:r>
              <a:rPr lang="en-US" sz="1400" b="1" dirty="0"/>
              <a:t>Visualization Rationale and Design:</a:t>
            </a:r>
          </a:p>
          <a:p>
            <a:endParaRPr lang="en-US" sz="1400" dirty="0"/>
          </a:p>
          <a:p>
            <a:r>
              <a:rPr lang="en-US" sz="1400" dirty="0"/>
              <a:t>Visualizations follow overview to detail principle — national trend established before demographic disaggregation (Few, 2013)</a:t>
            </a:r>
          </a:p>
          <a:p>
            <a:r>
              <a:rPr lang="en-US" sz="1400" dirty="0"/>
              <a:t>Colour, labelling and reference lines chosen to minimize cognitive load and maximize interpretability (Knaflic, 2015)</a:t>
            </a:r>
          </a:p>
          <a:p>
            <a:endParaRPr lang="en-US" sz="1400" dirty="0"/>
          </a:p>
          <a:p>
            <a:r>
              <a:rPr lang="en-US" sz="1400" b="1" dirty="0"/>
              <a:t>Figure 1 — White and Black Homicide Counts 1980-2014:</a:t>
            </a:r>
          </a:p>
          <a:p>
            <a:endParaRPr lang="en-US" sz="1400" dirty="0"/>
          </a:p>
          <a:p>
            <a:r>
              <a:rPr lang="en-US" sz="1400" dirty="0">
                <a:solidFill>
                  <a:srgbClr val="FF0000"/>
                </a:solidFill>
              </a:rPr>
              <a:t>Line chart </a:t>
            </a:r>
            <a:r>
              <a:rPr lang="en-US" sz="1400" dirty="0"/>
              <a:t>selected — optimal for displaying continuous time series trends across two groups simultaneously</a:t>
            </a:r>
          </a:p>
          <a:p>
            <a:r>
              <a:rPr lang="en-US" sz="1400" dirty="0"/>
              <a:t>Convergent shapes across White and Black victim groups visually confirm </a:t>
            </a:r>
            <a:r>
              <a:rPr lang="en-US" sz="1400" dirty="0">
                <a:solidFill>
                  <a:srgbClr val="FF0000"/>
                </a:solidFill>
              </a:rPr>
              <a:t>macro structural forces </a:t>
            </a:r>
            <a:r>
              <a:rPr lang="en-US" sz="1400" dirty="0"/>
              <a:t>drove the decline</a:t>
            </a:r>
          </a:p>
          <a:p>
            <a:r>
              <a:rPr lang="en-US" sz="1400" dirty="0"/>
              <a:t>Reference lines added at 1993 peak and 2000 stabilization point — guides reader interpretation</a:t>
            </a:r>
          </a:p>
          <a:p>
            <a:endParaRPr lang="en-US" sz="1400" dirty="0"/>
          </a:p>
          <a:p>
            <a:r>
              <a:rPr lang="en-US" sz="1400" b="1" dirty="0"/>
              <a:t>Figure 2 — ACF and PACF Plots:</a:t>
            </a:r>
          </a:p>
          <a:p>
            <a:endParaRPr lang="en-US" sz="1400" dirty="0"/>
          </a:p>
          <a:p>
            <a:r>
              <a:rPr lang="en-US" sz="1400" dirty="0"/>
              <a:t>Generated via </a:t>
            </a:r>
            <a:r>
              <a:rPr lang="en-US" sz="1400" dirty="0">
                <a:solidFill>
                  <a:srgbClr val="FF0000"/>
                </a:solidFill>
              </a:rPr>
              <a:t>statsmodels graphics library</a:t>
            </a:r>
            <a:r>
              <a:rPr lang="en-US" sz="1400" dirty="0"/>
              <a:t> (Seabold and </a:t>
            </a:r>
            <a:r>
              <a:rPr lang="en-US" sz="1400" dirty="0" err="1"/>
              <a:t>Perktold</a:t>
            </a:r>
            <a:r>
              <a:rPr lang="en-US" sz="1400" dirty="0"/>
              <a:t>, 2010)</a:t>
            </a:r>
          </a:p>
          <a:p>
            <a:r>
              <a:rPr lang="en-US" sz="1400" dirty="0"/>
              <a:t>Technical diagnostic charts — intended for </a:t>
            </a:r>
            <a:r>
              <a:rPr lang="en-US" sz="1400" dirty="0">
                <a:solidFill>
                  <a:srgbClr val="FF0000"/>
                </a:solidFill>
              </a:rPr>
              <a:t>expert audience only</a:t>
            </a:r>
            <a:r>
              <a:rPr lang="en-US" sz="1400" dirty="0"/>
              <a:t>, not general stakeholder reporting</a:t>
            </a:r>
          </a:p>
          <a:p>
            <a:r>
              <a:rPr lang="en-US" sz="1400" dirty="0"/>
              <a:t>Significant lag 1 spike in both plots empirically confirmed ARIMA(1,1,1) order selection (Box and Jenkins, 1976)</a:t>
            </a:r>
          </a:p>
          <a:p>
            <a:r>
              <a:rPr lang="en-US" sz="1400" dirty="0"/>
              <a:t>Included as evidence of </a:t>
            </a:r>
            <a:r>
              <a:rPr lang="en-US" sz="1400" dirty="0">
                <a:solidFill>
                  <a:srgbClr val="FF0000"/>
                </a:solidFill>
              </a:rPr>
              <a:t>rigorous experimental design </a:t>
            </a:r>
            <a:r>
              <a:rPr lang="en-US" sz="1400" dirty="0"/>
              <a:t>rather than communication tool</a:t>
            </a:r>
          </a:p>
          <a:p>
            <a:endParaRPr lang="en-US" sz="1400" dirty="0"/>
          </a:p>
          <a:p>
            <a:r>
              <a:rPr lang="en-US" sz="1400" b="1" dirty="0"/>
              <a:t>Figure 3 — ARIMA Forecast vs Actual 1980-2014:</a:t>
            </a:r>
          </a:p>
          <a:p>
            <a:endParaRPr lang="en-US" sz="1400" dirty="0"/>
          </a:p>
          <a:p>
            <a:r>
              <a:rPr lang="en-US" sz="1400" dirty="0">
                <a:solidFill>
                  <a:srgbClr val="FF0000"/>
                </a:solidFill>
              </a:rPr>
              <a:t>Line chart with train/test split reference line </a:t>
            </a:r>
            <a:r>
              <a:rPr lang="en-US" sz="1400" dirty="0"/>
              <a:t>— clearly distinguishes modelled from forecast period</a:t>
            </a:r>
          </a:p>
          <a:p>
            <a:r>
              <a:rPr lang="en-US" sz="1400" dirty="0"/>
              <a:t>Blue forecast line vs green actual line — visual comparison of model performance</a:t>
            </a:r>
          </a:p>
          <a:p>
            <a:r>
              <a:rPr lang="en-US" sz="1400" dirty="0"/>
              <a:t>Forecast stabilization at 14,500-14,700 closely matching actual 14,000-15,000 visually confirms MAE of 7.2%</a:t>
            </a:r>
          </a:p>
          <a:p>
            <a:r>
              <a:rPr lang="en-US" sz="1400" dirty="0"/>
              <a:t>Maximum homicide count 1993 and stabilization post 2000 clearly visible</a:t>
            </a:r>
            <a:br>
              <a:rPr lang="en-US" sz="1400" dirty="0"/>
            </a:br>
            <a:br>
              <a:rPr lang="en-US" sz="1400" dirty="0"/>
            </a:br>
            <a:endParaRPr lang="en-US" sz="1400" dirty="0"/>
          </a:p>
          <a:p>
            <a:endParaRPr lang="en-US" sz="1400" dirty="0"/>
          </a:p>
          <a:p>
            <a:endParaRPr lang="en-US" sz="1400" dirty="0"/>
          </a:p>
          <a:p>
            <a:br>
              <a:rPr lang="en-US" sz="1400" dirty="0"/>
            </a:br>
            <a:br>
              <a:rPr lang="en-US" sz="1400" dirty="0"/>
            </a:br>
            <a:endParaRPr lang="en-US" sz="1400" dirty="0"/>
          </a:p>
          <a:p>
            <a:endParaRPr lang="en-GB" sz="1400" dirty="0"/>
          </a:p>
          <a:p>
            <a:endParaRPr lang="en-GB" dirty="0"/>
          </a:p>
        </p:txBody>
      </p:sp>
    </p:spTree>
    <p:extLst>
      <p:ext uri="{BB962C8B-B14F-4D97-AF65-F5344CB8AC3E}">
        <p14:creationId xmlns:p14="http://schemas.microsoft.com/office/powerpoint/2010/main" val="1944386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0713B-5F8A-BA18-AE61-F139D56289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03C43C-6B91-40CB-88C3-2AB7FFD4C765}"/>
              </a:ext>
            </a:extLst>
          </p:cNvPr>
          <p:cNvSpPr txBox="1"/>
          <p:nvPr/>
        </p:nvSpPr>
        <p:spPr>
          <a:xfrm>
            <a:off x="487152" y="98656"/>
            <a:ext cx="11018520" cy="7171194"/>
          </a:xfrm>
          <a:prstGeom prst="rect">
            <a:avLst/>
          </a:prstGeom>
          <a:noFill/>
        </p:spPr>
        <p:txBody>
          <a:bodyPr wrap="square" rtlCol="0">
            <a:spAutoFit/>
          </a:bodyPr>
          <a:lstStyle/>
          <a:p>
            <a:r>
              <a:rPr lang="en-GB" b="1" dirty="0">
                <a:solidFill>
                  <a:srgbClr val="FF0000"/>
                </a:solidFill>
              </a:rPr>
              <a:t>Data Analytics</a:t>
            </a:r>
          </a:p>
          <a:p>
            <a:endParaRPr lang="en-GB" dirty="0">
              <a:solidFill>
                <a:srgbClr val="FF0000"/>
              </a:solidFill>
            </a:endParaRPr>
          </a:p>
          <a:p>
            <a:r>
              <a:rPr lang="en-US" sz="1400" b="1" dirty="0"/>
              <a:t>Hypothesis:</a:t>
            </a:r>
          </a:p>
          <a:p>
            <a:endParaRPr lang="en-US" sz="1400" dirty="0"/>
          </a:p>
          <a:p>
            <a:r>
              <a:rPr lang="en-US" sz="1400" dirty="0">
                <a:solidFill>
                  <a:srgbClr val="FF0000"/>
                </a:solidFill>
              </a:rPr>
              <a:t>H1</a:t>
            </a:r>
            <a:r>
              <a:rPr lang="en-US" sz="1400" dirty="0"/>
              <a:t>: The decline in US homicides 1980–2014 follows a statistically predictable autoregressive structure, measurable and forecastable using ARIMA modelling</a:t>
            </a:r>
          </a:p>
          <a:p>
            <a:r>
              <a:rPr lang="en-US" sz="1400" dirty="0">
                <a:solidFill>
                  <a:srgbClr val="FF0000"/>
                </a:solidFill>
              </a:rPr>
              <a:t>H0</a:t>
            </a:r>
            <a:r>
              <a:rPr lang="en-US" sz="1400" dirty="0"/>
              <a:t>: The series follows no predictable structure and cannot be forecast beyond random walk</a:t>
            </a:r>
          </a:p>
          <a:p>
            <a:endParaRPr lang="en-US" sz="1400" dirty="0"/>
          </a:p>
          <a:p>
            <a:r>
              <a:rPr lang="en-US" sz="1400" b="1" dirty="0"/>
              <a:t>Methodology — ARIMA(1,1,1):</a:t>
            </a:r>
          </a:p>
          <a:p>
            <a:endParaRPr lang="en-US" sz="1400" dirty="0"/>
          </a:p>
          <a:p>
            <a:r>
              <a:rPr lang="en-US" sz="1400" dirty="0"/>
              <a:t>Augmented </a:t>
            </a:r>
            <a:r>
              <a:rPr lang="en-US" sz="1400" dirty="0">
                <a:solidFill>
                  <a:srgbClr val="FF0000"/>
                </a:solidFill>
              </a:rPr>
              <a:t>Dickie Fuller test</a:t>
            </a:r>
            <a:r>
              <a:rPr lang="en-US" sz="1400" dirty="0"/>
              <a:t> confirmed non-stationarity (p=0.50) — formally justifying ARIMA over ARMA (Dickey and Fuller, 1979)</a:t>
            </a:r>
          </a:p>
          <a:p>
            <a:r>
              <a:rPr lang="en-US" sz="1400" dirty="0"/>
              <a:t>First differencing (I=1) applied — transforms declining series to stationary, enabling ARMA components to model residual patterns</a:t>
            </a:r>
          </a:p>
          <a:p>
            <a:r>
              <a:rPr lang="en-US" sz="1400" dirty="0">
                <a:solidFill>
                  <a:srgbClr val="FF0000"/>
                </a:solidFill>
              </a:rPr>
              <a:t>ACF </a:t>
            </a:r>
            <a:r>
              <a:rPr lang="en-US" sz="1400" dirty="0"/>
              <a:t>suggested MA(1), </a:t>
            </a:r>
            <a:r>
              <a:rPr lang="en-US" sz="1400" dirty="0">
                <a:solidFill>
                  <a:srgbClr val="FF0000"/>
                </a:solidFill>
              </a:rPr>
              <a:t>PACF</a:t>
            </a:r>
            <a:r>
              <a:rPr lang="en-US" sz="1400" dirty="0"/>
              <a:t> suggested AR(1) — model order selection follows Box and Jenkins (1976)</a:t>
            </a:r>
          </a:p>
          <a:p>
            <a:r>
              <a:rPr lang="en-US" sz="1400" dirty="0"/>
              <a:t>Alternative approaches considered and rejected — Prophet (less transparent), simple linear regression (ignores autocorrelation), ARMA (requires stationarity)</a:t>
            </a:r>
          </a:p>
          <a:p>
            <a:r>
              <a:rPr lang="en-US" sz="1400" dirty="0"/>
              <a:t>Methodology conforms to </a:t>
            </a:r>
            <a:r>
              <a:rPr lang="en-US" sz="1400" dirty="0">
                <a:solidFill>
                  <a:srgbClr val="FF0000"/>
                </a:solidFill>
              </a:rPr>
              <a:t>CRISP-DM </a:t>
            </a:r>
            <a:r>
              <a:rPr lang="en-GB" sz="1400" dirty="0"/>
              <a:t>(Chapman et al., 2000):</a:t>
            </a:r>
            <a:r>
              <a:rPr lang="en-US" sz="1400" dirty="0">
                <a:solidFill>
                  <a:srgbClr val="FF0000"/>
                </a:solidFill>
              </a:rPr>
              <a:t> </a:t>
            </a:r>
            <a:r>
              <a:rPr lang="en-US" sz="1400" dirty="0"/>
              <a:t>structured experimental design framework</a:t>
            </a:r>
          </a:p>
          <a:p>
            <a:endParaRPr lang="en-US" sz="1400" dirty="0"/>
          </a:p>
          <a:p>
            <a:r>
              <a:rPr lang="en-US" sz="1400" b="1" dirty="0"/>
              <a:t>Results and Evaluation:</a:t>
            </a:r>
          </a:p>
          <a:p>
            <a:endParaRPr lang="en-US" sz="1400" dirty="0"/>
          </a:p>
          <a:p>
            <a:r>
              <a:rPr lang="en-US" sz="1400" dirty="0">
                <a:solidFill>
                  <a:srgbClr val="FF0000"/>
                </a:solidFill>
              </a:rPr>
              <a:t>Mean Absolute Error 1,137 homicides </a:t>
            </a:r>
            <a:r>
              <a:rPr lang="en-US" sz="1400" dirty="0"/>
              <a:t>— 7.2% of mean actual value — </a:t>
            </a:r>
            <a:r>
              <a:rPr lang="en-US" sz="1400" b="1" dirty="0"/>
              <a:t>strong predictive performance</a:t>
            </a:r>
          </a:p>
          <a:p>
            <a:r>
              <a:rPr lang="en-US" sz="1400" dirty="0"/>
              <a:t>Model correctly forecast stabilization post 2000 rather than continued decline</a:t>
            </a:r>
          </a:p>
          <a:p>
            <a:r>
              <a:rPr lang="en-US" sz="1400" dirty="0"/>
              <a:t>Structural break identified — pre-2000 momentum not sustained, consistent with social equilibrium</a:t>
            </a:r>
          </a:p>
          <a:p>
            <a:r>
              <a:rPr lang="en-US" sz="1400" dirty="0"/>
              <a:t>Technical finding transferable to commercial forecasting — directly applied to VMO2 CPP in Part 2</a:t>
            </a:r>
          </a:p>
          <a:p>
            <a:endParaRPr lang="en-US" sz="1400" dirty="0"/>
          </a:p>
          <a:p>
            <a:r>
              <a:rPr lang="en-US" sz="1400" b="1" dirty="0"/>
              <a:t>Ethics, Bias and Privacy:</a:t>
            </a:r>
          </a:p>
          <a:p>
            <a:endParaRPr lang="en-US" sz="1400" dirty="0"/>
          </a:p>
          <a:p>
            <a:r>
              <a:rPr lang="en-US" sz="1400" dirty="0"/>
              <a:t>Race disaggregated data presented responsibly — raw counts without population adjustment risk misrepresenting racial disparities</a:t>
            </a:r>
          </a:p>
          <a:p>
            <a:r>
              <a:rPr lang="en-US" sz="1400" dirty="0"/>
              <a:t>Administrative racial classification introduces bias — categories assigned not self identified</a:t>
            </a:r>
          </a:p>
          <a:p>
            <a:r>
              <a:rPr lang="en-US" sz="1400" dirty="0"/>
              <a:t>Intersectionality acknowledged as structural limitation (Crenshaw, 1989)</a:t>
            </a:r>
          </a:p>
          <a:p>
            <a:r>
              <a:rPr lang="en-US" sz="1400" dirty="0"/>
              <a:t>Dataset fully anonymized — no personal data, used under Kaggle open license</a:t>
            </a:r>
          </a:p>
          <a:p>
            <a:endParaRPr lang="en-US" sz="1400" dirty="0"/>
          </a:p>
          <a:p>
            <a:endParaRPr lang="en-GB" dirty="0"/>
          </a:p>
        </p:txBody>
      </p:sp>
    </p:spTree>
    <p:extLst>
      <p:ext uri="{BB962C8B-B14F-4D97-AF65-F5344CB8AC3E}">
        <p14:creationId xmlns:p14="http://schemas.microsoft.com/office/powerpoint/2010/main" val="2925866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0C8A8-08AE-622A-A662-3CA0EFF29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8" y="313354"/>
            <a:ext cx="12192000" cy="5169408"/>
          </a:xfrm>
          <a:prstGeom prst="rect">
            <a:avLst/>
          </a:prstGeom>
        </p:spPr>
      </p:pic>
      <p:sp>
        <p:nvSpPr>
          <p:cNvPr id="2" name="TextBox 1">
            <a:extLst>
              <a:ext uri="{FF2B5EF4-FFF2-40B4-BE49-F238E27FC236}">
                <a16:creationId xmlns:a16="http://schemas.microsoft.com/office/drawing/2014/main" id="{7A25097A-8ADA-B567-86B3-D43437862C8C}"/>
              </a:ext>
            </a:extLst>
          </p:cNvPr>
          <p:cNvSpPr txBox="1"/>
          <p:nvPr/>
        </p:nvSpPr>
        <p:spPr>
          <a:xfrm>
            <a:off x="768096" y="5596128"/>
            <a:ext cx="11247120" cy="461665"/>
          </a:xfrm>
          <a:prstGeom prst="rect">
            <a:avLst/>
          </a:prstGeom>
          <a:noFill/>
        </p:spPr>
        <p:txBody>
          <a:bodyPr wrap="square" rtlCol="0">
            <a:spAutoFit/>
          </a:bodyPr>
          <a:lstStyle/>
          <a:p>
            <a:r>
              <a:rPr lang="en-US" sz="1200" dirty="0"/>
              <a:t>Figure 1: Annual US homicide counts 1980–2014 by race. White and Black victim trends exhibit convergent shapes — peak 1993, sharp decline to 2000, </a:t>
            </a:r>
            <a:r>
              <a:rPr lang="en-US" sz="1200" dirty="0" err="1"/>
              <a:t>stabilisation</a:t>
            </a:r>
            <a:r>
              <a:rPr lang="en-US" sz="1200" dirty="0"/>
              <a:t> post 2000 — suggesting macro structural forces drove the national decline independent of demographic characteristics. Source: Kaggle US Homicides Dataset (2016).</a:t>
            </a:r>
            <a:endParaRPr lang="en-GB" sz="1200" dirty="0"/>
          </a:p>
        </p:txBody>
      </p:sp>
    </p:spTree>
    <p:extLst>
      <p:ext uri="{BB962C8B-B14F-4D97-AF65-F5344CB8AC3E}">
        <p14:creationId xmlns:p14="http://schemas.microsoft.com/office/powerpoint/2010/main" val="731799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0F6F2-D2E7-ED5F-2D20-AE5729942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550" y="785851"/>
            <a:ext cx="10782300" cy="3838498"/>
          </a:xfrm>
          <a:prstGeom prst="rect">
            <a:avLst/>
          </a:prstGeom>
        </p:spPr>
      </p:pic>
      <p:sp>
        <p:nvSpPr>
          <p:cNvPr id="7" name="TextBox 6">
            <a:extLst>
              <a:ext uri="{FF2B5EF4-FFF2-40B4-BE49-F238E27FC236}">
                <a16:creationId xmlns:a16="http://schemas.microsoft.com/office/drawing/2014/main" id="{45F296C9-3E63-D257-3E17-F6A6243A488E}"/>
              </a:ext>
            </a:extLst>
          </p:cNvPr>
          <p:cNvSpPr txBox="1"/>
          <p:nvPr/>
        </p:nvSpPr>
        <p:spPr>
          <a:xfrm>
            <a:off x="786384" y="5065776"/>
            <a:ext cx="10586466" cy="461665"/>
          </a:xfrm>
          <a:prstGeom prst="rect">
            <a:avLst/>
          </a:prstGeom>
          <a:noFill/>
        </p:spPr>
        <p:txBody>
          <a:bodyPr wrap="square" rtlCol="0">
            <a:spAutoFit/>
          </a:bodyPr>
          <a:lstStyle/>
          <a:p>
            <a:r>
              <a:rPr lang="en-GB" sz="1200" dirty="0"/>
              <a:t>Figure 2: Autocorrelation Function (ACF) and Partial Autocorrelation Function (PACF) for annual US homicide counts 1980–2014. ACF decay pattern confirms non-stationarity. Significant spike at lag 1 in both plots informed selection of ARIMA(1,1,1) model order, consistent with Box and Jenkins (1976) methodology.</a:t>
            </a:r>
          </a:p>
        </p:txBody>
      </p:sp>
    </p:spTree>
    <p:extLst>
      <p:ext uri="{BB962C8B-B14F-4D97-AF65-F5344CB8AC3E}">
        <p14:creationId xmlns:p14="http://schemas.microsoft.com/office/powerpoint/2010/main" val="246680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079247-4F7D-B224-C57C-659B72997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 y="219075"/>
            <a:ext cx="12192000" cy="5169408"/>
          </a:xfrm>
          <a:prstGeom prst="rect">
            <a:avLst/>
          </a:prstGeom>
        </p:spPr>
      </p:pic>
      <p:sp>
        <p:nvSpPr>
          <p:cNvPr id="4" name="TextBox 3">
            <a:extLst>
              <a:ext uri="{FF2B5EF4-FFF2-40B4-BE49-F238E27FC236}">
                <a16:creationId xmlns:a16="http://schemas.microsoft.com/office/drawing/2014/main" id="{38C596D9-28E3-6251-D222-7FA3EA01EF66}"/>
              </a:ext>
            </a:extLst>
          </p:cNvPr>
          <p:cNvSpPr txBox="1"/>
          <p:nvPr/>
        </p:nvSpPr>
        <p:spPr>
          <a:xfrm>
            <a:off x="795528" y="5541264"/>
            <a:ext cx="11183112" cy="646331"/>
          </a:xfrm>
          <a:prstGeom prst="rect">
            <a:avLst/>
          </a:prstGeom>
          <a:noFill/>
        </p:spPr>
        <p:txBody>
          <a:bodyPr wrap="square" rtlCol="0">
            <a:spAutoFit/>
          </a:bodyPr>
          <a:lstStyle/>
          <a:p>
            <a:r>
              <a:rPr lang="en-US" sz="1200" dirty="0"/>
              <a:t>Figure 3: ARIMA(1,1,1) forecast (2001–2014) against actual homicide counts. Model trained on 1980–2000 data correctly forecast </a:t>
            </a:r>
            <a:r>
              <a:rPr lang="en-US" sz="1200" dirty="0" err="1"/>
              <a:t>stabilisation</a:t>
            </a:r>
            <a:r>
              <a:rPr lang="en-US" sz="1200" dirty="0"/>
              <a:t> at approximately 14,500–14,700 annually. Mean Absolute Error of 1,137 homicides (7.2% of mean actual) indicates strong predictive performance. Structural break evident post 2000 — pre-2000 declining momentum was not sustained, consistent with social equilibrium hypothesis.</a:t>
            </a:r>
            <a:endParaRPr lang="en-GB" sz="1200" dirty="0"/>
          </a:p>
        </p:txBody>
      </p:sp>
    </p:spTree>
    <p:extLst>
      <p:ext uri="{BB962C8B-B14F-4D97-AF65-F5344CB8AC3E}">
        <p14:creationId xmlns:p14="http://schemas.microsoft.com/office/powerpoint/2010/main" val="3292737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10C4-61C7-0523-779D-118A2AEBE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B873AD-AE95-868C-47B7-7AD6607F6ECE}"/>
              </a:ext>
            </a:extLst>
          </p:cNvPr>
          <p:cNvSpPr txBox="1"/>
          <p:nvPr/>
        </p:nvSpPr>
        <p:spPr>
          <a:xfrm>
            <a:off x="986547" y="243512"/>
            <a:ext cx="10500528" cy="5570756"/>
          </a:xfrm>
          <a:prstGeom prst="rect">
            <a:avLst/>
          </a:prstGeom>
          <a:noFill/>
        </p:spPr>
        <p:txBody>
          <a:bodyPr wrap="square" rtlCol="0">
            <a:spAutoFit/>
          </a:bodyPr>
          <a:lstStyle/>
          <a:p>
            <a:r>
              <a:rPr lang="en-GB" sz="2000" b="1" dirty="0">
                <a:solidFill>
                  <a:srgbClr val="FF0000"/>
                </a:solidFill>
              </a:rPr>
              <a:t>Impact Evaluation </a:t>
            </a:r>
          </a:p>
          <a:p>
            <a:endParaRPr lang="en-GB" dirty="0">
              <a:solidFill>
                <a:srgbClr val="FF0000"/>
              </a:solidFill>
            </a:endParaRPr>
          </a:p>
          <a:p>
            <a:r>
              <a:rPr lang="en-GB" b="1" dirty="0"/>
              <a:t>Executive Summary</a:t>
            </a:r>
            <a:br>
              <a:rPr lang="en-GB" dirty="0"/>
            </a:br>
            <a:br>
              <a:rPr lang="en-GB" dirty="0"/>
            </a:br>
            <a:r>
              <a:rPr lang="en-US" sz="1400" b="1" dirty="0"/>
              <a:t>Part 2: Average cost Per Premise Time Series Analysis — Virgin Media O2</a:t>
            </a:r>
            <a:br>
              <a:rPr lang="en-US" sz="1400" b="1" dirty="0"/>
            </a:br>
            <a:br>
              <a:rPr lang="en-US" sz="1400" b="1" dirty="0"/>
            </a:br>
            <a:r>
              <a:rPr lang="en-US" sz="1600" dirty="0"/>
              <a:t>This analysis applies ARIMA time series modelling to Virgin Media O2 Cost Per Premise </a:t>
            </a:r>
            <a:r>
              <a:rPr lang="en-US" sz="1600" dirty="0">
                <a:solidFill>
                  <a:srgbClr val="FF0000"/>
                </a:solidFill>
              </a:rPr>
              <a:t>(CPP) </a:t>
            </a:r>
            <a:r>
              <a:rPr lang="en-US" sz="1600" dirty="0"/>
              <a:t>data spanning January 2022 to February 2026. CPP represents the average cost of  “construction problem” broadband installations where a billable cost exists. The central hypothesis is that CPP follows a statistically predictable upward trend, forecastable using ARIMA — directly paralleling Part 1 but applied to a rising rather than declining series.</a:t>
            </a:r>
          </a:p>
          <a:p>
            <a:endParaRPr lang="en-US" sz="1600" dirty="0"/>
          </a:p>
          <a:p>
            <a:r>
              <a:rPr lang="en-US" sz="1600" dirty="0"/>
              <a:t>CPP rose from approximately £710 in January 2022 to £950 by mid 2024 — a nominal increase of approximately 34%. </a:t>
            </a:r>
            <a:r>
              <a:rPr lang="en-US" sz="1600" dirty="0">
                <a:solidFill>
                  <a:srgbClr val="FF0000"/>
                </a:solidFill>
              </a:rPr>
              <a:t>ADF</a:t>
            </a:r>
            <a:r>
              <a:rPr lang="en-US" sz="1600" dirty="0"/>
              <a:t> stationarity testing confirmed non stationarity, with </a:t>
            </a:r>
            <a:r>
              <a:rPr lang="en-US" sz="1600" dirty="0">
                <a:solidFill>
                  <a:srgbClr val="FF0000"/>
                </a:solidFill>
              </a:rPr>
              <a:t>ACF/PACF </a:t>
            </a:r>
            <a:r>
              <a:rPr lang="en-US" sz="1600" dirty="0"/>
              <a:t>plots informing model order selection. Three forecasting models were applied — ARIMA predicts stabilization at approximately £945</a:t>
            </a:r>
            <a:r>
              <a:rPr lang="en-US" sz="1600" dirty="0">
                <a:solidFill>
                  <a:srgbClr val="FF0000"/>
                </a:solidFill>
              </a:rPr>
              <a:t>, ETS Holt </a:t>
            </a:r>
            <a:r>
              <a:rPr lang="en-US" sz="1600" dirty="0"/>
              <a:t>predicts continued rise toward £1,000+, and </a:t>
            </a:r>
            <a:r>
              <a:rPr lang="en-US" sz="1600" dirty="0">
                <a:solidFill>
                  <a:srgbClr val="FF0000"/>
                </a:solidFill>
              </a:rPr>
              <a:t>Prophet </a:t>
            </a:r>
            <a:r>
              <a:rPr lang="en-US" sz="1600" dirty="0"/>
              <a:t>forecasts upward trajectory with volatility. Model divergence provides scenario planning range for budget and contract management decisions.</a:t>
            </a:r>
          </a:p>
          <a:p>
            <a:endParaRPr lang="en-US" sz="1600" dirty="0"/>
          </a:p>
          <a:p>
            <a:r>
              <a:rPr lang="en-US" sz="1600" dirty="0"/>
              <a:t>Business impact includes early identification of cost overruns, improved PO budget forecasting and data driven contract negotiation support. Power BI automation </a:t>
            </a:r>
            <a:r>
              <a:rPr lang="en-US" sz="1600" dirty="0">
                <a:solidFill>
                  <a:srgbClr val="FF0000"/>
                </a:solidFill>
              </a:rPr>
              <a:t>saves an estimated 25 analyst days annually </a:t>
            </a:r>
            <a:r>
              <a:rPr lang="en-US" sz="1600" dirty="0"/>
              <a:t>versus previous manual Excel monitoring. Monitoring CPP as a structured time series transforms it from a retrospective reporting figure into a forward-looking management tool — demonstrating direct transferability of analytical techniques from Part 1.</a:t>
            </a:r>
          </a:p>
          <a:p>
            <a:endParaRPr lang="en-US" sz="1400" dirty="0"/>
          </a:p>
        </p:txBody>
      </p:sp>
    </p:spTree>
    <p:extLst>
      <p:ext uri="{BB962C8B-B14F-4D97-AF65-F5344CB8AC3E}">
        <p14:creationId xmlns:p14="http://schemas.microsoft.com/office/powerpoint/2010/main" val="530005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0284-F866-80BF-D895-831BD9496E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D6907B-DB7F-B0E9-9BEA-CF48174C36BF}"/>
              </a:ext>
            </a:extLst>
          </p:cNvPr>
          <p:cNvSpPr txBox="1"/>
          <p:nvPr/>
        </p:nvSpPr>
        <p:spPr>
          <a:xfrm>
            <a:off x="442891" y="141216"/>
            <a:ext cx="11099182" cy="6894195"/>
          </a:xfrm>
          <a:prstGeom prst="rect">
            <a:avLst/>
          </a:prstGeom>
          <a:noFill/>
        </p:spPr>
        <p:txBody>
          <a:bodyPr wrap="square" rtlCol="0">
            <a:spAutoFit/>
          </a:bodyPr>
          <a:lstStyle/>
          <a:p>
            <a:r>
              <a:rPr lang="en-GB" sz="2000" b="1" dirty="0">
                <a:solidFill>
                  <a:srgbClr val="FF0000"/>
                </a:solidFill>
              </a:rPr>
              <a:t>Project Background</a:t>
            </a:r>
          </a:p>
          <a:p>
            <a:endParaRPr lang="en-GB" sz="1400" dirty="0"/>
          </a:p>
          <a:p>
            <a:r>
              <a:rPr lang="en-US" sz="1400" b="1" dirty="0"/>
              <a:t>Company Context:</a:t>
            </a:r>
          </a:p>
          <a:p>
            <a:endParaRPr lang="en-US" sz="1400" b="1" dirty="0"/>
          </a:p>
          <a:p>
            <a:pPr marL="285750" indent="-285750">
              <a:buFont typeface="Arial" panose="020B0604020202020204" pitchFamily="34" charset="0"/>
              <a:buChar char="•"/>
            </a:pPr>
            <a:r>
              <a:rPr lang="en-US" sz="1400" dirty="0"/>
              <a:t>Virgin Media O2 broadband problem installations assign properties with construction challenges — such as de-silting and blockages — to external civil engineering partners</a:t>
            </a:r>
          </a:p>
          <a:p>
            <a:endParaRPr lang="en-US" sz="1400" dirty="0"/>
          </a:p>
          <a:p>
            <a:pPr marL="285750" indent="-285750">
              <a:buFont typeface="Arial" panose="020B0604020202020204" pitchFamily="34" charset="0"/>
              <a:buChar char="•"/>
            </a:pPr>
            <a:r>
              <a:rPr lang="en-US" sz="1400" dirty="0"/>
              <a:t>Construction programme represents several million pounds of annual expenditure — making accurate cost monitoring essential for financial governance</a:t>
            </a:r>
          </a:p>
          <a:p>
            <a:endParaRPr lang="en-US" sz="1200" dirty="0"/>
          </a:p>
          <a:p>
            <a:r>
              <a:rPr lang="en-US" sz="1400" b="1" dirty="0"/>
              <a:t>The Business Problem:</a:t>
            </a:r>
          </a:p>
          <a:p>
            <a:endParaRPr lang="en-US" sz="1200" b="1" dirty="0"/>
          </a:p>
          <a:p>
            <a:pPr marL="285750" indent="-285750">
              <a:buFont typeface="Arial" panose="020B0604020202020204" pitchFamily="34" charset="0"/>
              <a:buChar char="•"/>
            </a:pPr>
            <a:r>
              <a:rPr lang="en-US" sz="1400" dirty="0"/>
              <a:t>Prior to this analysis CPP monitoring was performed manually in Excel — producing irregular and inconclusive updates with no forward-looking forecast capability</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dirty="0"/>
              <a:t>Rising CPP since January 2022 raised commercially significant questions about contract valuations and budget requirements — motivating a structured time series approach</a:t>
            </a:r>
            <a:endParaRPr lang="en-US" sz="1400" b="1" dirty="0"/>
          </a:p>
          <a:p>
            <a:endParaRPr lang="en-US" sz="1200" dirty="0"/>
          </a:p>
          <a:p>
            <a:r>
              <a:rPr lang="en-US" sz="1400" b="1" dirty="0"/>
              <a:t>Average Cost Per Premise Metric:</a:t>
            </a:r>
          </a:p>
          <a:p>
            <a:endParaRPr lang="en-US" sz="1400" b="1" dirty="0"/>
          </a:p>
          <a:p>
            <a:pPr marL="285750" indent="-285750">
              <a:buFont typeface="Arial" panose="020B0604020202020204" pitchFamily="34" charset="0"/>
              <a:buChar char="•"/>
            </a:pPr>
            <a:r>
              <a:rPr lang="en-US" sz="1400" dirty="0"/>
              <a:t>CPP is an average cost metric — total construction costs across all completed properties divided by the number of properties, giving the mean cost per individual premise</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dirty="0"/>
              <a:t>Properties with zero cost excluded from both numerator and denominator — ensuring the average reflects only genuinely billable construction activity</a:t>
            </a:r>
            <a:endParaRPr lang="en-US" sz="1400" b="1" dirty="0"/>
          </a:p>
          <a:p>
            <a:endParaRPr lang="en-US" sz="1200" b="1" dirty="0"/>
          </a:p>
          <a:p>
            <a:r>
              <a:rPr lang="en-US" sz="1400" b="1" dirty="0"/>
              <a:t>Stakeholders:</a:t>
            </a:r>
          </a:p>
          <a:p>
            <a:endParaRPr lang="en-US" sz="1200" dirty="0"/>
          </a:p>
          <a:p>
            <a:pPr marL="285750" indent="-285750">
              <a:buFont typeface="Arial" panose="020B0604020202020204" pitchFamily="34" charset="0"/>
              <a:buChar char="•"/>
            </a:pPr>
            <a:r>
              <a:rPr lang="en-US" sz="1400" dirty="0"/>
              <a:t>Key stakeholders include operations managers responsible for partner performance and contract decisions, and finance teams overseeing PO budget allocation and governance</a:t>
            </a:r>
          </a:p>
          <a:p>
            <a:endParaRPr lang="en-GB" dirty="0"/>
          </a:p>
        </p:txBody>
      </p:sp>
    </p:spTree>
    <p:extLst>
      <p:ext uri="{BB962C8B-B14F-4D97-AF65-F5344CB8AC3E}">
        <p14:creationId xmlns:p14="http://schemas.microsoft.com/office/powerpoint/2010/main" val="81443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A4787-716A-CF78-EE06-4ACD32F373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F200F18-2A8D-4D99-155B-089D8249ACBC}"/>
              </a:ext>
            </a:extLst>
          </p:cNvPr>
          <p:cNvSpPr txBox="1"/>
          <p:nvPr/>
        </p:nvSpPr>
        <p:spPr>
          <a:xfrm>
            <a:off x="524976" y="197931"/>
            <a:ext cx="10472091" cy="5570756"/>
          </a:xfrm>
          <a:prstGeom prst="rect">
            <a:avLst/>
          </a:prstGeom>
          <a:noFill/>
        </p:spPr>
        <p:txBody>
          <a:bodyPr wrap="square" rtlCol="0">
            <a:spAutoFit/>
          </a:bodyPr>
          <a:lstStyle/>
          <a:p>
            <a:r>
              <a:rPr lang="en-GB" sz="2000" b="1" dirty="0">
                <a:solidFill>
                  <a:srgbClr val="FF0000"/>
                </a:solidFill>
              </a:rPr>
              <a:t>Approach and Analysis</a:t>
            </a:r>
          </a:p>
          <a:p>
            <a:endParaRPr lang="en-GB" dirty="0">
              <a:solidFill>
                <a:srgbClr val="FF0000"/>
              </a:solidFill>
            </a:endParaRPr>
          </a:p>
          <a:p>
            <a:r>
              <a:rPr lang="en-US" sz="1400" b="1" dirty="0"/>
              <a:t>Data Preparation:</a:t>
            </a:r>
          </a:p>
          <a:p>
            <a:endParaRPr lang="en-US" sz="1400" b="1" dirty="0"/>
          </a:p>
          <a:p>
            <a:pPr marL="285750" indent="-285750">
              <a:buFont typeface="Arial" panose="020B0604020202020204" pitchFamily="34" charset="0"/>
              <a:buChar char="•"/>
            </a:pPr>
            <a:r>
              <a:rPr lang="en-US" sz="1400" dirty="0"/>
              <a:t>CPP data extracted from VMO2 finance systems and cleaned — removing records prior to January 2022, blank work order IDs and duplicate entries to ensure analytical integrity</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dirty="0"/>
              <a:t>Monthly granularity selected from timestamped property level data — providing 50 observations January 2022 to February 2026 as the analytical dataset</a:t>
            </a:r>
            <a:endParaRPr lang="en-US" sz="1400" b="1" dirty="0"/>
          </a:p>
          <a:p>
            <a:pPr marL="285750" indent="-285750">
              <a:buFont typeface="Arial" panose="020B0604020202020204" pitchFamily="34" charset="0"/>
              <a:buChar char="•"/>
            </a:pPr>
            <a:endParaRPr lang="en-US" sz="1400" dirty="0"/>
          </a:p>
          <a:p>
            <a:r>
              <a:rPr lang="en-US" sz="1400" b="1" dirty="0"/>
              <a:t>Exploratory Analysis — Power BI:</a:t>
            </a:r>
          </a:p>
          <a:p>
            <a:endParaRPr lang="en-US" sz="1400" b="1" dirty="0"/>
          </a:p>
          <a:p>
            <a:pPr marL="285750" indent="-285750">
              <a:buFont typeface="Arial" panose="020B0604020202020204" pitchFamily="34" charset="0"/>
              <a:buChar char="•"/>
            </a:pPr>
            <a:r>
              <a:rPr lang="en-US" sz="1400" dirty="0"/>
              <a:t>Power BI exploratory analysis confirmed consistent upward CPP trajectory from £710 (2022) to £950 (mid 2024) — rolling average revealed underlying structural trend and scatter plot confirmed billing discipline across approximately 10 partners since 2022</a:t>
            </a:r>
          </a:p>
          <a:p>
            <a:endParaRPr lang="en-US" sz="1200" dirty="0"/>
          </a:p>
          <a:p>
            <a:r>
              <a:rPr lang="en-US" sz="1400" b="1" dirty="0"/>
              <a:t>Time Series Methodology — Python:</a:t>
            </a:r>
          </a:p>
          <a:p>
            <a:endParaRPr lang="en-US" sz="1400" dirty="0"/>
          </a:p>
          <a:p>
            <a:pPr marL="171450" indent="-171450">
              <a:buFont typeface="Arial" panose="020B0604020202020204" pitchFamily="34" charset="0"/>
              <a:buChar char="•"/>
            </a:pPr>
            <a:r>
              <a:rPr lang="en-US" sz="1400" dirty="0"/>
              <a:t>ADF stationarity test confirmed non stationarity — formally justifying ARIMA over ARMA (Dickey and Fuller, 1979), ACF/PACF plots informed model order selection resulting in ARIMA(1,1,1) and ARIMA(0,1,1)</a:t>
            </a:r>
          </a:p>
          <a:p>
            <a:pPr marL="171450" indent="-171450">
              <a:buFont typeface="Arial" panose="020B0604020202020204" pitchFamily="34" charset="0"/>
              <a:buChar char="•"/>
            </a:pPr>
            <a:endParaRPr lang="en-US" sz="1400" dirty="0">
              <a:solidFill>
                <a:srgbClr val="FF0000"/>
              </a:solidFill>
            </a:endParaRPr>
          </a:p>
          <a:p>
            <a:pPr marL="171450" indent="-171450">
              <a:buFont typeface="Arial" panose="020B0604020202020204" pitchFamily="34" charset="0"/>
              <a:buChar char="•"/>
            </a:pPr>
            <a:r>
              <a:rPr lang="en-US" sz="1400" dirty="0"/>
              <a:t>Three models applied for comparative analysis — ARIMA selected for transparency and alignment with established literature (Box and Jenkins, 1976), ETS Holt and Prophet applied as alternatives</a:t>
            </a:r>
          </a:p>
          <a:p>
            <a:pPr marL="171450" indent="-171450">
              <a:buFont typeface="Arial" panose="020B0604020202020204" pitchFamily="34" charset="0"/>
              <a:buChar char="•"/>
            </a:pPr>
            <a:endParaRPr lang="en-US" sz="1200" dirty="0">
              <a:solidFill>
                <a:srgbClr val="FF0000"/>
              </a:solidFill>
            </a:endParaRPr>
          </a:p>
          <a:p>
            <a:pPr marL="171450" indent="-171450">
              <a:buFont typeface="Arial" panose="020B0604020202020204" pitchFamily="34" charset="0"/>
              <a:buChar char="•"/>
            </a:pPr>
            <a:r>
              <a:rPr lang="en-US" sz="1400" dirty="0"/>
              <a:t>Model divergence to be evaluated via formal train/test split for summative — producing MAE and RMSE per model to objectively identify best performer</a:t>
            </a:r>
            <a:endParaRPr lang="en-US" sz="1400" dirty="0">
              <a:solidFill>
                <a:srgbClr val="FF0000"/>
              </a:solidFill>
            </a:endParaRPr>
          </a:p>
        </p:txBody>
      </p:sp>
    </p:spTree>
    <p:extLst>
      <p:ext uri="{BB962C8B-B14F-4D97-AF65-F5344CB8AC3E}">
        <p14:creationId xmlns:p14="http://schemas.microsoft.com/office/powerpoint/2010/main" val="3819669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AC4D-2EB1-B0DF-2BA2-B6AB664939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FA4B8EB-CAC2-BDEE-696A-BF263AEDC7B7}"/>
              </a:ext>
            </a:extLst>
          </p:cNvPr>
          <p:cNvSpPr txBox="1"/>
          <p:nvPr/>
        </p:nvSpPr>
        <p:spPr>
          <a:xfrm>
            <a:off x="384009" y="111629"/>
            <a:ext cx="10500528" cy="7325082"/>
          </a:xfrm>
          <a:prstGeom prst="rect">
            <a:avLst/>
          </a:prstGeom>
          <a:noFill/>
        </p:spPr>
        <p:txBody>
          <a:bodyPr wrap="square" rtlCol="0">
            <a:spAutoFit/>
          </a:bodyPr>
          <a:lstStyle/>
          <a:p>
            <a:r>
              <a:rPr lang="en-GB" sz="2000" b="1" dirty="0">
                <a:solidFill>
                  <a:srgbClr val="FF0000"/>
                </a:solidFill>
              </a:rPr>
              <a:t>Results and Impact</a:t>
            </a:r>
          </a:p>
          <a:p>
            <a:endParaRPr lang="en-GB" sz="1400" b="1" dirty="0">
              <a:solidFill>
                <a:srgbClr val="FF0000"/>
              </a:solidFill>
            </a:endParaRPr>
          </a:p>
          <a:p>
            <a:r>
              <a:rPr lang="en-GB" sz="1400" b="1" dirty="0"/>
              <a:t>CPP Trend Findings:</a:t>
            </a:r>
          </a:p>
          <a:p>
            <a:endParaRPr lang="en-GB" sz="1200" dirty="0"/>
          </a:p>
          <a:p>
            <a:pPr marL="285750" indent="-285750">
              <a:buFont typeface="Arial" panose="020B0604020202020204" pitchFamily="34" charset="0"/>
              <a:buChar char="•"/>
            </a:pPr>
            <a:r>
              <a:rPr lang="en-US" sz="1400" dirty="0"/>
              <a:t>CPP rose from approximately £710 in January 2022 to £950 by mid 2024 — nominal increase of approximately 34%</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Against UK CPI of approximately 15-20% over the same period a real terms increase of 14-19% is indicated — formal monthly inflation adjustment to be completed for summative to confirm this finding</a:t>
            </a:r>
          </a:p>
          <a:p>
            <a:endParaRPr lang="en-US" sz="1200" dirty="0"/>
          </a:p>
          <a:p>
            <a:r>
              <a:rPr lang="en-US" sz="1400" b="1" dirty="0"/>
              <a:t>Forecast Model Results:</a:t>
            </a:r>
          </a:p>
          <a:p>
            <a:endParaRPr lang="en-US" sz="1200" dirty="0"/>
          </a:p>
          <a:p>
            <a:pPr marL="285750" indent="-285750">
              <a:buFont typeface="Arial" panose="020B0604020202020204" pitchFamily="34" charset="0"/>
              <a:buChar char="•"/>
            </a:pPr>
            <a:r>
              <a:rPr lang="en-US" sz="1400" dirty="0"/>
              <a:t>ARIMA(1,1,1) and ARIMA(0,1,1) — predict stabilization at approximately £945 — Figure 5</a:t>
            </a:r>
          </a:p>
          <a:p>
            <a:pPr marL="285750" indent="-285750">
              <a:buFont typeface="Arial" panose="020B0604020202020204" pitchFamily="34" charset="0"/>
              <a:buChar char="•"/>
            </a:pPr>
            <a:r>
              <a:rPr lang="en-US" sz="1400" dirty="0"/>
              <a:t>ETS Holt — predicts continued rise toward £1,000+ by 2027</a:t>
            </a:r>
          </a:p>
          <a:p>
            <a:pPr marL="285750" indent="-285750">
              <a:buFont typeface="Arial" panose="020B0604020202020204" pitchFamily="34" charset="0"/>
              <a:buChar char="•"/>
            </a:pPr>
            <a:r>
              <a:rPr lang="en-US" sz="1400" dirty="0"/>
              <a:t>Prophet — predicts upward trajectory with significant volatility</a:t>
            </a:r>
          </a:p>
          <a:p>
            <a:endParaRPr lang="en-US" sz="1400" dirty="0"/>
          </a:p>
          <a:p>
            <a:r>
              <a:rPr lang="en-US" sz="1400" b="1" dirty="0"/>
              <a:t>Quantified Business Value:</a:t>
            </a:r>
          </a:p>
          <a:p>
            <a:endParaRPr lang="en-US" sz="1200" b="1" dirty="0"/>
          </a:p>
          <a:p>
            <a:pPr marL="285750" indent="-285750">
              <a:buFont typeface="Arial" panose="020B0604020202020204" pitchFamily="34" charset="0"/>
              <a:buChar char="•"/>
            </a:pPr>
            <a:r>
              <a:rPr lang="en-US" sz="1400" dirty="0"/>
              <a:t>Power BI automation estimated to save minimum 25 analyst days annually — replacing manual Excel monitoring across 10,000+ rows of construction data, enabling consistent weekly refresh versus previous irregular inconclusive updates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Four time series models — ARIMA, ARIMA(0,1,1), ETS Holt and Prophet — applied to 50 monthly observations, producing forecast range of £945 stabilization to £1,000+ continued rise by 2027, directly informing PO budget planning across a multi million-pound construction programme</a:t>
            </a:r>
          </a:p>
          <a:p>
            <a:endParaRPr lang="en-US" sz="1200" dirty="0"/>
          </a:p>
          <a:p>
            <a:endParaRPr lang="en-US" sz="1200" dirty="0"/>
          </a:p>
          <a:p>
            <a:r>
              <a:rPr lang="en-US" sz="1400" b="1" dirty="0"/>
              <a:t>Stakeholder Impact:</a:t>
            </a:r>
          </a:p>
          <a:p>
            <a:endParaRPr lang="en-US" sz="1200" b="1" dirty="0"/>
          </a:p>
          <a:p>
            <a:pPr marL="285750" indent="-285750">
              <a:buFont typeface="Arial" panose="020B0604020202020204" pitchFamily="34" charset="0"/>
              <a:buChar char="•"/>
            </a:pPr>
            <a:r>
              <a:rPr lang="en-US" sz="1400" dirty="0"/>
              <a:t>Structured CPP forecasting delivers early warning of cost trajectory to operations managers, improved PO budget planning for finance based on upper confidence interval of £1,060, and evidence-based partner performance data for procurement contract renewal decisions — transforming a manual reporting process into a forward-looking governance tool</a:t>
            </a:r>
          </a:p>
          <a:p>
            <a:endParaRPr lang="en-GB" sz="1200" dirty="0">
              <a:solidFill>
                <a:srgbClr val="FF0000"/>
              </a:solidFill>
            </a:endParaRPr>
          </a:p>
          <a:p>
            <a:endParaRPr lang="en-GB" sz="1400" dirty="0">
              <a:solidFill>
                <a:srgbClr val="FF0000"/>
              </a:solidFill>
            </a:endParaRPr>
          </a:p>
          <a:p>
            <a:endParaRPr lang="en-GB" dirty="0">
              <a:solidFill>
                <a:srgbClr val="FF0000"/>
              </a:solidFill>
            </a:endParaRPr>
          </a:p>
        </p:txBody>
      </p:sp>
    </p:spTree>
    <p:extLst>
      <p:ext uri="{BB962C8B-B14F-4D97-AF65-F5344CB8AC3E}">
        <p14:creationId xmlns:p14="http://schemas.microsoft.com/office/powerpoint/2010/main" val="126765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9E3C6F-5710-BBD8-5E99-A6C477A97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557" y="320034"/>
            <a:ext cx="10972822" cy="5486411"/>
          </a:xfrm>
          <a:prstGeom prst="rect">
            <a:avLst/>
          </a:prstGeom>
        </p:spPr>
      </p:pic>
      <p:sp>
        <p:nvSpPr>
          <p:cNvPr id="4" name="TextBox 3">
            <a:extLst>
              <a:ext uri="{FF2B5EF4-FFF2-40B4-BE49-F238E27FC236}">
                <a16:creationId xmlns:a16="http://schemas.microsoft.com/office/drawing/2014/main" id="{AA913667-8E22-8AB5-CE6D-2B0A34BA0B8C}"/>
              </a:ext>
            </a:extLst>
          </p:cNvPr>
          <p:cNvSpPr txBox="1"/>
          <p:nvPr/>
        </p:nvSpPr>
        <p:spPr>
          <a:xfrm>
            <a:off x="914400" y="5806445"/>
            <a:ext cx="10411979" cy="646331"/>
          </a:xfrm>
          <a:prstGeom prst="rect">
            <a:avLst/>
          </a:prstGeom>
          <a:noFill/>
        </p:spPr>
        <p:txBody>
          <a:bodyPr wrap="square" rtlCol="0">
            <a:spAutoFit/>
          </a:bodyPr>
          <a:lstStyle/>
          <a:p>
            <a:r>
              <a:rPr lang="en-US" sz="1200" dirty="0"/>
              <a:t>Figure 4: ARIMA(1,1,1) monthly CPP forecast January 2022 to February 2026 with 95% confidence interval. Central forecast predicts </a:t>
            </a:r>
            <a:r>
              <a:rPr lang="en-US" sz="1200" dirty="0" err="1"/>
              <a:t>stabilisation</a:t>
            </a:r>
            <a:r>
              <a:rPr lang="en-US" sz="1200" dirty="0"/>
              <a:t> at approximately £945. Confidence interval widens to £850–£1,060 by mid 2027 — prudent budget planning should reference upper bound rather than central forecast alone.</a:t>
            </a:r>
            <a:endParaRPr lang="en-GB" sz="1200" dirty="0"/>
          </a:p>
        </p:txBody>
      </p:sp>
    </p:spTree>
    <p:extLst>
      <p:ext uri="{BB962C8B-B14F-4D97-AF65-F5344CB8AC3E}">
        <p14:creationId xmlns:p14="http://schemas.microsoft.com/office/powerpoint/2010/main" val="2754804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AC141E-81B5-C216-EFD4-3711265BC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0"/>
            <a:ext cx="12192000" cy="5736336"/>
          </a:xfrm>
          <a:prstGeom prst="rect">
            <a:avLst/>
          </a:prstGeom>
        </p:spPr>
      </p:pic>
      <p:sp>
        <p:nvSpPr>
          <p:cNvPr id="4" name="TextBox 3">
            <a:extLst>
              <a:ext uri="{FF2B5EF4-FFF2-40B4-BE49-F238E27FC236}">
                <a16:creationId xmlns:a16="http://schemas.microsoft.com/office/drawing/2014/main" id="{EC12A09C-B41B-8260-F59B-FFA56CB69116}"/>
              </a:ext>
            </a:extLst>
          </p:cNvPr>
          <p:cNvSpPr txBox="1"/>
          <p:nvPr/>
        </p:nvSpPr>
        <p:spPr>
          <a:xfrm>
            <a:off x="585216" y="5888736"/>
            <a:ext cx="11384280" cy="646331"/>
          </a:xfrm>
          <a:prstGeom prst="rect">
            <a:avLst/>
          </a:prstGeom>
          <a:noFill/>
        </p:spPr>
        <p:txBody>
          <a:bodyPr wrap="square" rtlCol="0">
            <a:spAutoFit/>
          </a:bodyPr>
          <a:lstStyle/>
          <a:p>
            <a:r>
              <a:rPr lang="en-GB" sz="1200" dirty="0"/>
              <a:t>Figure 5: Forecast comparison across ARIMA(1,1,1), ARIMA(0,1,1), ETS Holt and Prophet models. ARIMA variants predict stabilisation at approximately £940–£950, ETS Holt predicts continued rise toward £1,000+, Prophet forecasts upward trajectory with volatility. Model divergence provides scenario planning range for contract and budget management decisions.</a:t>
            </a:r>
          </a:p>
        </p:txBody>
      </p:sp>
    </p:spTree>
    <p:extLst>
      <p:ext uri="{BB962C8B-B14F-4D97-AF65-F5344CB8AC3E}">
        <p14:creationId xmlns:p14="http://schemas.microsoft.com/office/powerpoint/2010/main" val="2859200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24B3-6D2C-E243-B038-820C056F18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BD9A62F-3CF4-1FA1-7F07-73BA6B73FCBA}"/>
              </a:ext>
            </a:extLst>
          </p:cNvPr>
          <p:cNvSpPr txBox="1"/>
          <p:nvPr/>
        </p:nvSpPr>
        <p:spPr>
          <a:xfrm>
            <a:off x="576877" y="232085"/>
            <a:ext cx="10500528" cy="6863417"/>
          </a:xfrm>
          <a:prstGeom prst="rect">
            <a:avLst/>
          </a:prstGeom>
          <a:noFill/>
        </p:spPr>
        <p:txBody>
          <a:bodyPr wrap="square" rtlCol="0">
            <a:spAutoFit/>
          </a:bodyPr>
          <a:lstStyle/>
          <a:p>
            <a:r>
              <a:rPr lang="en-GB" b="1" dirty="0">
                <a:solidFill>
                  <a:srgbClr val="FF0000"/>
                </a:solidFill>
              </a:rPr>
              <a:t>Recommendations</a:t>
            </a:r>
          </a:p>
          <a:p>
            <a:endParaRPr lang="en-GB" sz="1200" dirty="0">
              <a:solidFill>
                <a:srgbClr val="FF0000"/>
              </a:solidFill>
            </a:endParaRPr>
          </a:p>
          <a:p>
            <a:r>
              <a:rPr lang="en-US" sz="1400" b="1" dirty="0"/>
              <a:t>Immediate:</a:t>
            </a:r>
          </a:p>
          <a:p>
            <a:endParaRPr lang="en-US" sz="1400" dirty="0"/>
          </a:p>
          <a:p>
            <a:pPr marL="285750" indent="-285750">
              <a:buFont typeface="Arial" panose="020B0604020202020204" pitchFamily="34" charset="0"/>
              <a:buChar char="•"/>
            </a:pPr>
            <a:r>
              <a:rPr lang="en-US" sz="1400" dirty="0"/>
              <a:t>Complete inflation adjustment using </a:t>
            </a:r>
            <a:r>
              <a:rPr lang="en-US" sz="1400" dirty="0">
                <a:solidFill>
                  <a:srgbClr val="FF0000"/>
                </a:solidFill>
              </a:rPr>
              <a:t>ONS CPI Index </a:t>
            </a:r>
            <a:r>
              <a:rPr lang="en-US" sz="1400" dirty="0"/>
              <a:t>— real terms CPP increase of 14-19% already indicated, formal monthly adjustment to confirm (ONS, 2026)</a:t>
            </a:r>
          </a:p>
          <a:p>
            <a:endParaRPr lang="en-US" sz="1400" dirty="0"/>
          </a:p>
          <a:p>
            <a:pPr marL="285750" indent="-285750">
              <a:buFont typeface="Arial" panose="020B0604020202020204" pitchFamily="34" charset="0"/>
              <a:buChar char="•"/>
            </a:pPr>
            <a:r>
              <a:rPr lang="en-US" sz="1400" dirty="0"/>
              <a:t>Present forecast scenario range to senior stakeholders — ARIMA stabilization vs ETS Holt continued rise vs Prophet volatility provides planning options</a:t>
            </a:r>
          </a:p>
          <a:p>
            <a:endParaRPr lang="en-US" sz="1400" dirty="0"/>
          </a:p>
          <a:p>
            <a:r>
              <a:rPr lang="en-US" sz="1400" b="1" dirty="0"/>
              <a:t>Modelling Improvements:</a:t>
            </a:r>
          </a:p>
          <a:p>
            <a:endParaRPr lang="en-US" sz="1400" dirty="0"/>
          </a:p>
          <a:p>
            <a:pPr marL="285750" indent="-285750">
              <a:buFont typeface="Arial" panose="020B0604020202020204" pitchFamily="34" charset="0"/>
              <a:buChar char="•"/>
            </a:pPr>
            <a:r>
              <a:rPr lang="en-US" sz="1400" dirty="0">
                <a:solidFill>
                  <a:srgbClr val="FF0000"/>
                </a:solidFill>
              </a:rPr>
              <a:t>Train/test split to be implemented </a:t>
            </a:r>
            <a:r>
              <a:rPr lang="en-US" sz="1400" dirty="0"/>
              <a:t>for summative — replicating homicide methodology to produce </a:t>
            </a:r>
            <a:r>
              <a:rPr lang="en-US" sz="1400" dirty="0">
                <a:solidFill>
                  <a:srgbClr val="FF0000"/>
                </a:solidFill>
              </a:rPr>
              <a:t>MAE</a:t>
            </a:r>
            <a:r>
              <a:rPr lang="en-US" sz="1400" dirty="0"/>
              <a:t>  metric across all four models, enabling objective model comparison equivalent to the 7.2% MAE achieved in Part 1</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Partner breakdown — running separate forecasts for each individual partner would reveal which specific partners are driving the overall cost increase — turning an aggregate finding into an actionable insight for contract and procurement decisions</a:t>
            </a:r>
          </a:p>
          <a:p>
            <a:pPr marL="285750" indent="-285750">
              <a:buFont typeface="Arial" panose="020B0604020202020204" pitchFamily="34" charset="0"/>
              <a:buChar char="•"/>
            </a:pPr>
            <a:endParaRPr lang="en-US" sz="1400" dirty="0"/>
          </a:p>
          <a:p>
            <a:r>
              <a:rPr lang="en-US" sz="1400" b="1" dirty="0"/>
              <a:t>Data Infrastructure:</a:t>
            </a:r>
          </a:p>
          <a:p>
            <a:endParaRPr lang="en-US" sz="1400" dirty="0"/>
          </a:p>
          <a:p>
            <a:pPr marL="285750" indent="-285750">
              <a:buFont typeface="Arial" panose="020B0604020202020204" pitchFamily="34" charset="0"/>
              <a:buChar char="•"/>
            </a:pPr>
            <a:r>
              <a:rPr lang="en-US" sz="1400" dirty="0"/>
              <a:t>Automate CPP data extraction via Azure Data Factory or similar — replacing manual CSV exports, eliminating human error risk and aligning with emerging DataOps best practice (Gartner, 2024)</a:t>
            </a:r>
          </a:p>
          <a:p>
            <a:pPr marL="285750" indent="-285750">
              <a:buFont typeface="Arial" panose="020B0604020202020204" pitchFamily="34" charset="0"/>
              <a:buChar char="•"/>
            </a:pPr>
            <a:endParaRPr lang="en-US" sz="1400" dirty="0"/>
          </a:p>
          <a:p>
            <a:r>
              <a:rPr lang="en-US" sz="1400" b="1" dirty="0"/>
              <a:t>Strategic:</a:t>
            </a:r>
          </a:p>
          <a:p>
            <a:endParaRPr lang="en-US" sz="1400" dirty="0"/>
          </a:p>
          <a:p>
            <a:pPr marL="285750" indent="-285750">
              <a:buFont typeface="Arial" panose="020B0604020202020204" pitchFamily="34" charset="0"/>
              <a:buChar char="•"/>
            </a:pPr>
            <a:r>
              <a:rPr lang="en-US" sz="1400" dirty="0"/>
              <a:t>Establish CPP as a formally governed strategic KPI — when combined with inflation adjustment and partner level decomposition it provides an objective evidence base for identifying which partners are pricing above real terms expectations, directly informing contract renegotiation and procurement decisions across a multi million-pound construction programme</a:t>
            </a:r>
          </a:p>
          <a:p>
            <a:endParaRPr lang="en-GB" sz="1400" dirty="0"/>
          </a:p>
          <a:p>
            <a:endParaRPr lang="en-GB" sz="1400" dirty="0">
              <a:solidFill>
                <a:srgbClr val="FF0000"/>
              </a:solidFill>
            </a:endParaRPr>
          </a:p>
          <a:p>
            <a:endParaRPr lang="en-GB" dirty="0">
              <a:solidFill>
                <a:srgbClr val="FF0000"/>
              </a:solidFill>
            </a:endParaRPr>
          </a:p>
        </p:txBody>
      </p:sp>
    </p:spTree>
    <p:extLst>
      <p:ext uri="{BB962C8B-B14F-4D97-AF65-F5344CB8AC3E}">
        <p14:creationId xmlns:p14="http://schemas.microsoft.com/office/powerpoint/2010/main" val="2632487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00CA-F145-E7DE-2108-FAD2D5E997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181984-5DC2-F1A3-8AE4-B2C5FDFDA50B}"/>
              </a:ext>
            </a:extLst>
          </p:cNvPr>
          <p:cNvSpPr txBox="1"/>
          <p:nvPr/>
        </p:nvSpPr>
        <p:spPr>
          <a:xfrm>
            <a:off x="845736" y="170415"/>
            <a:ext cx="10500528" cy="6517169"/>
          </a:xfrm>
          <a:prstGeom prst="rect">
            <a:avLst/>
          </a:prstGeom>
          <a:noFill/>
        </p:spPr>
        <p:txBody>
          <a:bodyPr wrap="square" rtlCol="0">
            <a:spAutoFit/>
          </a:bodyPr>
          <a:lstStyle/>
          <a:p>
            <a:r>
              <a:rPr lang="en-GB" sz="1600" b="1" dirty="0">
                <a:solidFill>
                  <a:srgbClr val="FF0000"/>
                </a:solidFill>
              </a:rPr>
              <a:t>References</a:t>
            </a:r>
          </a:p>
          <a:p>
            <a:endParaRPr lang="en-GB" sz="1600" b="1" dirty="0">
              <a:solidFill>
                <a:srgbClr val="FF0000"/>
              </a:solidFill>
            </a:endParaRPr>
          </a:p>
          <a:p>
            <a:r>
              <a:rPr lang="en-GB" sz="1050" b="1" dirty="0"/>
              <a:t>Technical and Methodological:</a:t>
            </a:r>
            <a:endParaRPr lang="en-GB" sz="1050" dirty="0"/>
          </a:p>
          <a:p>
            <a:r>
              <a:rPr lang="en-GB" sz="1050" dirty="0"/>
              <a:t>Box, G.E.P. and Jenkins, G.M. (1976) </a:t>
            </a:r>
            <a:r>
              <a:rPr lang="en-GB" sz="1050" i="1" dirty="0"/>
              <a:t>Time Series Analysis: Forecasting and Control.</a:t>
            </a:r>
            <a:r>
              <a:rPr lang="en-GB" sz="1050" dirty="0"/>
              <a:t> San Francisco: Holden-Day.</a:t>
            </a:r>
          </a:p>
          <a:p>
            <a:r>
              <a:rPr lang="en-GB" sz="1050" dirty="0"/>
              <a:t>Chapman, P., Clinton, J., Kerber, R., </a:t>
            </a:r>
            <a:r>
              <a:rPr lang="en-GB" sz="1050" dirty="0" err="1"/>
              <a:t>Khabaza</a:t>
            </a:r>
            <a:r>
              <a:rPr lang="en-GB" sz="1050" dirty="0"/>
              <a:t>, T., Reinartz, T., Shearer, C. and Wirth, R. (2000) </a:t>
            </a:r>
            <a:r>
              <a:rPr lang="en-GB" sz="1050" i="1" dirty="0"/>
              <a:t>CRISP-DM 1.0: Step-by-Step Data Mining Guide.</a:t>
            </a:r>
            <a:r>
              <a:rPr lang="en-GB" sz="1050" dirty="0"/>
              <a:t> SPSS Inc. Available at: </a:t>
            </a:r>
            <a:r>
              <a:rPr lang="en-GB" sz="1050" dirty="0">
                <a:hlinkClick r:id="rId2"/>
              </a:rPr>
              <a:t>https://www.the-modeling-agency.com/crisp-dm.pdf</a:t>
            </a:r>
            <a:r>
              <a:rPr lang="en-GB" sz="1050" dirty="0"/>
              <a:t> (Accessed: 14 March 2026).</a:t>
            </a:r>
          </a:p>
          <a:p>
            <a:r>
              <a:rPr lang="en-GB" sz="1050" dirty="0"/>
              <a:t>Dickey, D.A. and Fuller, W.A. (1979) 'Distribution of the estimators for autoregressive time series with a unit root', </a:t>
            </a:r>
            <a:r>
              <a:rPr lang="en-GB" sz="1050" i="1" dirty="0"/>
              <a:t>Journal of the American Statistical Association,</a:t>
            </a:r>
            <a:r>
              <a:rPr lang="en-GB" sz="1050" dirty="0"/>
              <a:t> 74(366), pp. 427–431.</a:t>
            </a:r>
          </a:p>
          <a:p>
            <a:r>
              <a:rPr lang="en-GB" sz="1050" dirty="0"/>
              <a:t>Hyndman, R.J. and Athanasopoulos, G. (2021) </a:t>
            </a:r>
            <a:r>
              <a:rPr lang="en-GB" sz="1050" i="1" dirty="0"/>
              <a:t>Forecasting: Principles and Practice.</a:t>
            </a:r>
            <a:r>
              <a:rPr lang="en-GB" sz="1050" dirty="0"/>
              <a:t> 3rd </a:t>
            </a:r>
            <a:r>
              <a:rPr lang="en-GB" sz="1050" dirty="0" err="1"/>
              <a:t>edn</a:t>
            </a:r>
            <a:r>
              <a:rPr lang="en-GB" sz="1050" dirty="0"/>
              <a:t>. Melbourne: </a:t>
            </a:r>
            <a:r>
              <a:rPr lang="en-GB" sz="1050" dirty="0" err="1"/>
              <a:t>OTexts</a:t>
            </a:r>
            <a:r>
              <a:rPr lang="en-GB" sz="1050" dirty="0"/>
              <a:t>. Available at: </a:t>
            </a:r>
            <a:r>
              <a:rPr lang="en-GB" sz="1050" dirty="0">
                <a:hlinkClick r:id="rId3"/>
              </a:rPr>
              <a:t>https://otexts.com/fpp3</a:t>
            </a:r>
            <a:r>
              <a:rPr lang="en-GB" sz="1050" dirty="0"/>
              <a:t> (Accessed: 14 March 2026).</a:t>
            </a:r>
          </a:p>
          <a:p>
            <a:r>
              <a:rPr lang="en-GB" sz="1050" dirty="0"/>
              <a:t>Rubin, D.B. (1976) 'Inference and missing data', </a:t>
            </a:r>
            <a:r>
              <a:rPr lang="en-GB" sz="1050" i="1" dirty="0" err="1"/>
              <a:t>Biometrika</a:t>
            </a:r>
            <a:r>
              <a:rPr lang="en-GB" sz="1050" i="1" dirty="0"/>
              <a:t>,</a:t>
            </a:r>
            <a:r>
              <a:rPr lang="en-GB" sz="1050" dirty="0"/>
              <a:t> 63(3), pp. 581–592.</a:t>
            </a:r>
          </a:p>
          <a:p>
            <a:r>
              <a:rPr lang="en-GB" sz="1050" dirty="0"/>
              <a:t>Seabold, S. and </a:t>
            </a:r>
            <a:r>
              <a:rPr lang="en-GB" sz="1050" dirty="0" err="1"/>
              <a:t>Perktold</a:t>
            </a:r>
            <a:r>
              <a:rPr lang="en-GB" sz="1050" dirty="0"/>
              <a:t>, J. (2010) '</a:t>
            </a:r>
            <a:r>
              <a:rPr lang="en-GB" sz="1050" dirty="0" err="1"/>
              <a:t>Statsmodels</a:t>
            </a:r>
            <a:r>
              <a:rPr lang="en-GB" sz="1050" dirty="0"/>
              <a:t>: Econometric and statistical </a:t>
            </a:r>
            <a:r>
              <a:rPr lang="en-GB" sz="1050" dirty="0" err="1"/>
              <a:t>modeling</a:t>
            </a:r>
            <a:r>
              <a:rPr lang="en-GB" sz="1050" dirty="0"/>
              <a:t> with Python', </a:t>
            </a:r>
            <a:r>
              <a:rPr lang="en-GB" sz="1050" i="1" dirty="0"/>
              <a:t>Proceedings of the 9th Python in Science Conference,</a:t>
            </a:r>
            <a:r>
              <a:rPr lang="en-GB" sz="1050" dirty="0"/>
              <a:t> pp. 92–96.</a:t>
            </a:r>
          </a:p>
          <a:p>
            <a:r>
              <a:rPr lang="en-GB" sz="1050" b="1" dirty="0"/>
              <a:t>Data Visualisation:</a:t>
            </a:r>
            <a:endParaRPr lang="en-GB" sz="1050" dirty="0"/>
          </a:p>
          <a:p>
            <a:r>
              <a:rPr lang="en-GB" sz="1050" dirty="0"/>
              <a:t>Few, S. (2013) </a:t>
            </a:r>
            <a:r>
              <a:rPr lang="en-GB" sz="1050" i="1" dirty="0"/>
              <a:t>Information Dashboard Design: Displaying Data for At-a-Glance Monitoring.</a:t>
            </a:r>
            <a:r>
              <a:rPr lang="en-GB" sz="1050" dirty="0"/>
              <a:t> 2nd </a:t>
            </a:r>
            <a:r>
              <a:rPr lang="en-GB" sz="1050" dirty="0" err="1"/>
              <a:t>edn</a:t>
            </a:r>
            <a:r>
              <a:rPr lang="en-GB" sz="1050" dirty="0"/>
              <a:t>. Burlingame: Analytics Press.</a:t>
            </a:r>
          </a:p>
          <a:p>
            <a:r>
              <a:rPr lang="en-GB" sz="1050" dirty="0" err="1"/>
              <a:t>Knaflic</a:t>
            </a:r>
            <a:r>
              <a:rPr lang="en-GB" sz="1050" dirty="0"/>
              <a:t>, C.N. (2015) </a:t>
            </a:r>
            <a:r>
              <a:rPr lang="en-GB" sz="1050" i="1" dirty="0"/>
              <a:t>Storytelling with Data: A Data Visualization Guide for Business Professionals.</a:t>
            </a:r>
            <a:r>
              <a:rPr lang="en-GB" sz="1050" dirty="0"/>
              <a:t> Hoboken: Wiley.</a:t>
            </a:r>
          </a:p>
          <a:p>
            <a:r>
              <a:rPr lang="en-GB" sz="1050" b="1" dirty="0"/>
              <a:t>Sociological and Criminological:</a:t>
            </a:r>
            <a:endParaRPr lang="en-GB" sz="1050" dirty="0"/>
          </a:p>
          <a:p>
            <a:r>
              <a:rPr lang="en-GB" sz="1050" dirty="0"/>
              <a:t>Blumstein, A. (2000) 'Disaggregating the violence trends', in Blumstein, A. and Wallman, J. (eds.) </a:t>
            </a:r>
            <a:r>
              <a:rPr lang="en-GB" sz="1050" i="1" dirty="0"/>
              <a:t>The Crime Drop in America.</a:t>
            </a:r>
            <a:r>
              <a:rPr lang="en-GB" sz="1050" dirty="0"/>
              <a:t> Cambridge: Cambridge University Press, pp. 13–44.</a:t>
            </a:r>
          </a:p>
          <a:p>
            <a:r>
              <a:rPr lang="en-GB" sz="1050" dirty="0"/>
              <a:t>Donohue, J.J. and Levitt, S.D. (2001) 'The impact of legalised abortion on crime', </a:t>
            </a:r>
            <a:r>
              <a:rPr lang="en-GB" sz="1050" i="1" dirty="0"/>
              <a:t>Quarterly Journal of Economics,</a:t>
            </a:r>
            <a:r>
              <a:rPr lang="en-GB" sz="1050" dirty="0"/>
              <a:t> 116(2), pp. 379–420.</a:t>
            </a:r>
          </a:p>
          <a:p>
            <a:r>
              <a:rPr lang="en-GB" sz="1050" dirty="0"/>
              <a:t>Nevin, R. (2007) 'Understanding international crime trends: The legacy of preschool lead exposure', </a:t>
            </a:r>
            <a:r>
              <a:rPr lang="en-GB" sz="1050" i="1" dirty="0"/>
              <a:t>Environmental Research,</a:t>
            </a:r>
            <a:r>
              <a:rPr lang="en-GB" sz="1050" dirty="0"/>
              <a:t> 104(3), pp. 315–336.</a:t>
            </a:r>
          </a:p>
          <a:p>
            <a:r>
              <a:rPr lang="en-GB" sz="1050" dirty="0"/>
              <a:t>Sharkey, P. (2017) </a:t>
            </a:r>
            <a:r>
              <a:rPr lang="en-GB" sz="1050" i="1" dirty="0"/>
              <a:t>Uneasy Peace: The Great Crime Decline, the Renewal of City Life, and the Next War on Violence.</a:t>
            </a:r>
            <a:r>
              <a:rPr lang="en-GB" sz="1050" dirty="0"/>
              <a:t> New York: Norton.</a:t>
            </a:r>
          </a:p>
          <a:p>
            <a:r>
              <a:rPr lang="en-GB" sz="1050" b="1" dirty="0"/>
              <a:t>Ethical Framework:</a:t>
            </a:r>
            <a:endParaRPr lang="en-GB" sz="1050" dirty="0"/>
          </a:p>
          <a:p>
            <a:r>
              <a:rPr lang="en-GB" sz="1050" dirty="0"/>
              <a:t>Crenshaw, K. (1989) 'Demarginalizing the intersection of race and sex', </a:t>
            </a:r>
            <a:r>
              <a:rPr lang="en-GB" sz="1050" i="1" dirty="0"/>
              <a:t>University of Chicago Legal Forum,</a:t>
            </a:r>
            <a:r>
              <a:rPr lang="en-GB" sz="1050" dirty="0"/>
              <a:t> 1989(1), pp. 139–167.</a:t>
            </a:r>
          </a:p>
          <a:p>
            <a:r>
              <a:rPr lang="en-GB" sz="1050" dirty="0"/>
              <a:t>European Commission (2019) </a:t>
            </a:r>
            <a:r>
              <a:rPr lang="en-GB" sz="1050" i="1" dirty="0"/>
              <a:t>Ethics Guidelines for Trustworthy AI.</a:t>
            </a:r>
            <a:r>
              <a:rPr lang="en-GB" sz="1050" dirty="0"/>
              <a:t> Brussels: European Commission. Available at: </a:t>
            </a:r>
            <a:r>
              <a:rPr lang="en-GB" sz="1050" dirty="0">
                <a:hlinkClick r:id="rId4"/>
              </a:rPr>
              <a:t>https://ec.europa.eu/digital-single-market/en/news/ethics-guidelines-trustworthy-ai</a:t>
            </a:r>
            <a:r>
              <a:rPr lang="en-GB" sz="1050" dirty="0"/>
              <a:t> (Accessed: 14 March 2026).</a:t>
            </a:r>
          </a:p>
          <a:p>
            <a:r>
              <a:rPr lang="en-GB" sz="1050" b="1" dirty="0"/>
              <a:t>Data Governance:</a:t>
            </a:r>
            <a:endParaRPr lang="en-GB" sz="1050" dirty="0"/>
          </a:p>
          <a:p>
            <a:r>
              <a:rPr lang="en-GB" sz="1050" dirty="0"/>
              <a:t>DAMA International (2017) </a:t>
            </a:r>
            <a:r>
              <a:rPr lang="en-GB" sz="1050" i="1" dirty="0"/>
              <a:t>DAMA-DMBOK: Data Management Body of Knowledge.</a:t>
            </a:r>
            <a:r>
              <a:rPr lang="en-GB" sz="1050" dirty="0"/>
              <a:t> 2nd </a:t>
            </a:r>
            <a:r>
              <a:rPr lang="en-GB" sz="1050" dirty="0" err="1"/>
              <a:t>edn</a:t>
            </a:r>
            <a:r>
              <a:rPr lang="en-GB" sz="1050" dirty="0"/>
              <a:t>. Basking Ridge: Technics Publications.</a:t>
            </a:r>
          </a:p>
          <a:p>
            <a:r>
              <a:rPr lang="en-GB" sz="1050" dirty="0"/>
              <a:t>Inmon, W.H. (2005) </a:t>
            </a:r>
            <a:r>
              <a:rPr lang="en-GB" sz="1050" i="1" dirty="0"/>
              <a:t>Building the Data Warehouse.</a:t>
            </a:r>
            <a:r>
              <a:rPr lang="en-GB" sz="1050" dirty="0"/>
              <a:t> 4th </a:t>
            </a:r>
            <a:r>
              <a:rPr lang="en-GB" sz="1050" dirty="0" err="1"/>
              <a:t>edn</a:t>
            </a:r>
            <a:r>
              <a:rPr lang="en-GB" sz="1050" dirty="0"/>
              <a:t>. Indianapolis: Wiley.</a:t>
            </a:r>
          </a:p>
          <a:p>
            <a:r>
              <a:rPr lang="en-GB" sz="1050" dirty="0"/>
              <a:t>Kimball, R. and Caserta, J. (2011) </a:t>
            </a:r>
            <a:r>
              <a:rPr lang="en-GB" sz="1050" i="1" dirty="0"/>
              <a:t>The Data Warehouse ETL Toolkit.</a:t>
            </a:r>
            <a:r>
              <a:rPr lang="en-GB" sz="1050" dirty="0"/>
              <a:t> Indianapolis: Wiley.</a:t>
            </a:r>
          </a:p>
          <a:p>
            <a:r>
              <a:rPr lang="en-GB" sz="1050" b="1" dirty="0"/>
              <a:t>Business Intelligence:</a:t>
            </a:r>
            <a:endParaRPr lang="en-GB" sz="1050" dirty="0"/>
          </a:p>
          <a:p>
            <a:r>
              <a:rPr lang="en-GB" sz="1050" dirty="0"/>
              <a:t>Davenport, T.H. and Harris, J.G. (2007) </a:t>
            </a:r>
            <a:r>
              <a:rPr lang="en-GB" sz="1050" i="1" dirty="0"/>
              <a:t>Competing on Analytics: The New Science of Winning.</a:t>
            </a:r>
            <a:r>
              <a:rPr lang="en-GB" sz="1050" dirty="0"/>
              <a:t> Boston: Harvard Business School Press.</a:t>
            </a:r>
          </a:p>
          <a:p>
            <a:r>
              <a:rPr lang="en-GB" sz="1050" dirty="0"/>
              <a:t>Sharda, R., Delen, D. and Turban, E. (2020) </a:t>
            </a:r>
            <a:r>
              <a:rPr lang="en-GB" sz="1050" i="1" dirty="0"/>
              <a:t>Analytics, Data Science and Artificial Intelligence: Systems for Decision Support.</a:t>
            </a:r>
            <a:r>
              <a:rPr lang="en-GB" sz="1050" dirty="0"/>
              <a:t> 11th </a:t>
            </a:r>
            <a:r>
              <a:rPr lang="en-GB" sz="1050" dirty="0" err="1"/>
              <a:t>edn</a:t>
            </a:r>
            <a:r>
              <a:rPr lang="en-GB" sz="1050" dirty="0"/>
              <a:t>. Harlow: Pearson.</a:t>
            </a:r>
          </a:p>
          <a:p>
            <a:r>
              <a:rPr lang="en-GB" sz="1050" b="1" dirty="0"/>
              <a:t>Emerging Trends:</a:t>
            </a:r>
            <a:endParaRPr lang="en-GB" sz="1050" dirty="0"/>
          </a:p>
          <a:p>
            <a:r>
              <a:rPr lang="en-GB" sz="1050" dirty="0"/>
              <a:t>Gartner (2024) </a:t>
            </a:r>
            <a:r>
              <a:rPr lang="en-GB" sz="1050" i="1" dirty="0"/>
              <a:t>Top Trends in Data and Analytics.</a:t>
            </a:r>
            <a:r>
              <a:rPr lang="en-GB" sz="1050" dirty="0"/>
              <a:t> Stamford: Gartner Research. Available at: </a:t>
            </a:r>
            <a:r>
              <a:rPr lang="en-GB" sz="1050" dirty="0">
                <a:hlinkClick r:id="rId5"/>
              </a:rPr>
              <a:t>https://www.gartner.com</a:t>
            </a:r>
            <a:r>
              <a:rPr lang="en-GB" sz="1050" dirty="0"/>
              <a:t> (Accessed: 14 March 2026).</a:t>
            </a:r>
          </a:p>
          <a:p>
            <a:r>
              <a:rPr lang="en-GB" sz="1050" b="1" dirty="0"/>
              <a:t>Datasets and Data Sources:</a:t>
            </a:r>
            <a:endParaRPr lang="en-GB" sz="1050" dirty="0"/>
          </a:p>
          <a:p>
            <a:r>
              <a:rPr lang="en-GB" sz="1050" dirty="0"/>
              <a:t>Kaggle (2016) </a:t>
            </a:r>
            <a:r>
              <a:rPr lang="en-GB" sz="1050" i="1" dirty="0"/>
              <a:t>US Homicides 1980–2014</a:t>
            </a:r>
            <a:r>
              <a:rPr lang="en-GB" sz="1050" dirty="0"/>
              <a:t> [Dataset]. Available at: </a:t>
            </a:r>
            <a:r>
              <a:rPr lang="en-GB" sz="1050" dirty="0">
                <a:hlinkClick r:id="rId6"/>
              </a:rPr>
              <a:t>https://www.kaggle.com/datasets/murderaccountability/homicide-reports</a:t>
            </a:r>
            <a:r>
              <a:rPr lang="en-GB" sz="1050" dirty="0"/>
              <a:t> (Accessed: 14 March 2026).</a:t>
            </a:r>
          </a:p>
          <a:p>
            <a:r>
              <a:rPr lang="en-GB" sz="1050" dirty="0"/>
              <a:t>Office for National Statistics (2026) </a:t>
            </a:r>
            <a:r>
              <a:rPr lang="en-GB" sz="1050" i="1" dirty="0"/>
              <a:t>Consumer Price Index (CPI) — Monthly Data.</a:t>
            </a:r>
            <a:r>
              <a:rPr lang="en-GB" sz="1050" dirty="0"/>
              <a:t> Available at: </a:t>
            </a:r>
            <a:r>
              <a:rPr lang="en-GB" sz="1050" dirty="0">
                <a:hlinkClick r:id="rId7"/>
              </a:rPr>
              <a:t>https://www.ons.gov.uk/economy/inflationandpriceindices</a:t>
            </a:r>
            <a:r>
              <a:rPr lang="en-GB" sz="1050" dirty="0"/>
              <a:t> (Accessed: 14 March 2026).</a:t>
            </a:r>
          </a:p>
          <a:p>
            <a:r>
              <a:rPr lang="en-GB" sz="1050" dirty="0"/>
              <a:t>World Bank (2024) </a:t>
            </a:r>
            <a:r>
              <a:rPr lang="en-GB" sz="1050" i="1" dirty="0"/>
              <a:t>Population, Total — United States</a:t>
            </a:r>
            <a:r>
              <a:rPr lang="en-GB" sz="1050" dirty="0"/>
              <a:t> [Dataset]. Available at: </a:t>
            </a:r>
            <a:r>
              <a:rPr lang="en-GB" sz="1050" dirty="0">
                <a:hlinkClick r:id="rId8"/>
              </a:rPr>
              <a:t>https://data.worldbank.org/indicator/SP.POP.TOTL?locations=US</a:t>
            </a:r>
            <a:r>
              <a:rPr lang="en-GB" sz="1050" dirty="0"/>
              <a:t> (Accessed: 14 March 2026).</a:t>
            </a:r>
          </a:p>
          <a:p>
            <a:endParaRPr lang="en-GB" dirty="0">
              <a:solidFill>
                <a:srgbClr val="FF0000"/>
              </a:solidFill>
            </a:endParaRPr>
          </a:p>
        </p:txBody>
      </p:sp>
    </p:spTree>
    <p:extLst>
      <p:ext uri="{BB962C8B-B14F-4D97-AF65-F5344CB8AC3E}">
        <p14:creationId xmlns:p14="http://schemas.microsoft.com/office/powerpoint/2010/main" val="356729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ED54C8-27B1-903D-33B4-2BB20C834321}"/>
              </a:ext>
            </a:extLst>
          </p:cNvPr>
          <p:cNvSpPr txBox="1"/>
          <p:nvPr/>
        </p:nvSpPr>
        <p:spPr>
          <a:xfrm>
            <a:off x="707136" y="228123"/>
            <a:ext cx="10579608" cy="547842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 </a:t>
            </a:r>
            <a:r>
              <a:rPr lang="en-US" sz="1600" b="1" dirty="0">
                <a:solidFill>
                  <a:srgbClr val="FF0000"/>
                </a:solidFill>
                <a:latin typeface="Arial" panose="020B0604020202020204" pitchFamily="34" charset="0"/>
                <a:cs typeface="Arial" panose="020B0604020202020204" pitchFamily="34" charset="0"/>
              </a:rPr>
              <a:t>AI Usage Statement</a:t>
            </a:r>
          </a:p>
          <a:p>
            <a:endParaRPr lang="en-US" sz="14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Tool Used:</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Claude (Anthropic, 2026) — Claude Sonnet, accessed via claude.ai</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How AI Was Used in This Project:</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Conceptual explanation</a:t>
            </a:r>
            <a:r>
              <a:rPr lang="en-US" sz="1200" dirty="0">
                <a:latin typeface="Arial" panose="020B0604020202020204" pitchFamily="34" charset="0"/>
                <a:cs typeface="Arial" panose="020B0604020202020204" pitchFamily="34" charset="0"/>
              </a:rPr>
              <a:t> — ARIMA, ADF stationarity testing, ACF/PACF interpretation and autocorrelation explained conversationally to build genuine understanding before implementation</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Code assistance</a:t>
            </a:r>
            <a:r>
              <a:rPr lang="en-US" sz="1200" dirty="0">
                <a:latin typeface="Arial" panose="020B0604020202020204" pitchFamily="34" charset="0"/>
                <a:cs typeface="Arial" panose="020B0604020202020204" pitchFamily="34" charset="0"/>
              </a:rPr>
              <a:t> — Python code for </a:t>
            </a:r>
            <a:r>
              <a:rPr lang="en-US" sz="1200" dirty="0" err="1">
                <a:latin typeface="Arial" panose="020B0604020202020204" pitchFamily="34" charset="0"/>
                <a:cs typeface="Arial" panose="020B0604020202020204" pitchFamily="34" charset="0"/>
              </a:rPr>
              <a:t>groupby</a:t>
            </a:r>
            <a:r>
              <a:rPr lang="en-US" sz="1200" dirty="0">
                <a:latin typeface="Arial" panose="020B0604020202020204" pitchFamily="34" charset="0"/>
                <a:cs typeface="Arial" panose="020B0604020202020204" pitchFamily="34" charset="0"/>
              </a:rPr>
              <a:t> aggregation, ADF test, ACF/PACF plots, ARIMA fitting, forecast </a:t>
            </a:r>
            <a:r>
              <a:rPr lang="en-US" sz="1200" dirty="0" err="1">
                <a:latin typeface="Arial" panose="020B0604020202020204" pitchFamily="34" charset="0"/>
                <a:cs typeface="Arial" panose="020B0604020202020204" pitchFamily="34" charset="0"/>
              </a:rPr>
              <a:t>visualisation</a:t>
            </a:r>
            <a:r>
              <a:rPr lang="en-US" sz="1200" dirty="0">
                <a:latin typeface="Arial" panose="020B0604020202020204" pitchFamily="34" charset="0"/>
                <a:cs typeface="Arial" panose="020B0604020202020204" pitchFamily="34" charset="0"/>
              </a:rPr>
              <a:t> and MAE/RMSE evaluation written collaboratively with errors debugged iteratively</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Executive summary and slide content</a:t>
            </a:r>
            <a:r>
              <a:rPr lang="en-US" sz="1200" dirty="0">
                <a:latin typeface="Arial" panose="020B0604020202020204" pitchFamily="34" charset="0"/>
                <a:cs typeface="Arial" panose="020B0604020202020204" pitchFamily="34" charset="0"/>
              </a:rPr>
              <a:t> — drafted by AI based on analytical findings and results provided by the student</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Reference list</a:t>
            </a:r>
            <a:r>
              <a:rPr lang="en-US" sz="1200" dirty="0">
                <a:latin typeface="Arial" panose="020B0604020202020204" pitchFamily="34" charset="0"/>
                <a:cs typeface="Arial" panose="020B0604020202020204" pitchFamily="34" charset="0"/>
              </a:rPr>
              <a:t> — Harvard formatted references compiled with student verification</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Sociological </a:t>
            </a:r>
            <a:r>
              <a:rPr lang="en-US" sz="1200" b="1" dirty="0" err="1">
                <a:latin typeface="Arial" panose="020B0604020202020204" pitchFamily="34" charset="0"/>
                <a:cs typeface="Arial" panose="020B0604020202020204" pitchFamily="34" charset="0"/>
              </a:rPr>
              <a:t>contextualisation</a:t>
            </a:r>
            <a:r>
              <a:rPr lang="en-US" sz="1200" dirty="0">
                <a:latin typeface="Arial" panose="020B0604020202020204" pitchFamily="34" charset="0"/>
                <a:cs typeface="Arial" panose="020B0604020202020204" pitchFamily="34" charset="0"/>
              </a:rPr>
              <a:t> — Durkheim, intersectionality, race convergence findings and criminological literature connected to analytical observations made independently by the student</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What Was NOT Done by AI:</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All data exploration and pattern identification in </a:t>
            </a:r>
            <a:r>
              <a:rPr lang="en-US" sz="1200" dirty="0" err="1">
                <a:latin typeface="Arial" panose="020B0604020202020204" pitchFamily="34" charset="0"/>
                <a:cs typeface="Arial" panose="020B0604020202020204" pitchFamily="34" charset="0"/>
              </a:rPr>
              <a:t>PowerBI</a:t>
            </a:r>
            <a:r>
              <a:rPr lang="en-US" sz="1200" dirty="0">
                <a:latin typeface="Arial" panose="020B0604020202020204" pitchFamily="34" charset="0"/>
                <a:cs typeface="Arial" panose="020B0604020202020204" pitchFamily="34" charset="0"/>
              </a:rPr>
              <a:t> — conducted independently</a:t>
            </a:r>
          </a:p>
          <a:p>
            <a:r>
              <a:rPr lang="en-US" sz="1200" dirty="0">
                <a:latin typeface="Arial" panose="020B0604020202020204" pitchFamily="34" charset="0"/>
                <a:cs typeface="Arial" panose="020B0604020202020204" pitchFamily="34" charset="0"/>
              </a:rPr>
              <a:t>Key analytical observations — 114 homicide difference, southern states finding, race convergence, seasonal pattern — identified before AI involvement</a:t>
            </a:r>
          </a:p>
          <a:p>
            <a:r>
              <a:rPr lang="en-US" sz="1200" dirty="0">
                <a:latin typeface="Arial" panose="020B0604020202020204" pitchFamily="34" charset="0"/>
                <a:cs typeface="Arial" panose="020B0604020202020204" pitchFamily="34" charset="0"/>
              </a:rPr>
              <a:t>Critical evaluation of results and findings —  directed all interpretive decisions</a:t>
            </a:r>
          </a:p>
          <a:p>
            <a:r>
              <a:rPr lang="en-US" sz="1200" dirty="0">
                <a:latin typeface="Arial" panose="020B0604020202020204" pitchFamily="34" charset="0"/>
                <a:cs typeface="Arial" panose="020B0604020202020204" pitchFamily="34" charset="0"/>
              </a:rPr>
              <a:t>Final judgement on methodology, structure and content — student throughout</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Reference:</a:t>
            </a:r>
            <a:r>
              <a:rPr lang="en-US" sz="1200" dirty="0">
                <a:latin typeface="Arial" panose="020B0604020202020204" pitchFamily="34" charset="0"/>
                <a:cs typeface="Arial" panose="020B0604020202020204" pitchFamily="34" charset="0"/>
              </a:rPr>
              <a:t> Anthropic (2026) </a:t>
            </a:r>
            <a:r>
              <a:rPr lang="en-US" sz="1200" i="1" dirty="0">
                <a:latin typeface="Arial" panose="020B0604020202020204" pitchFamily="34" charset="0"/>
                <a:cs typeface="Arial" panose="020B0604020202020204" pitchFamily="34" charset="0"/>
              </a:rPr>
              <a:t>Claude Sonnet</a:t>
            </a:r>
            <a:r>
              <a:rPr lang="en-US" sz="1200" dirty="0">
                <a:latin typeface="Arial" panose="020B0604020202020204" pitchFamily="34" charset="0"/>
                <a:cs typeface="Arial" panose="020B0604020202020204" pitchFamily="34" charset="0"/>
              </a:rPr>
              <a:t> [Large language model]. Available at: </a:t>
            </a:r>
            <a:r>
              <a:rPr lang="en-US" sz="1200" dirty="0">
                <a:latin typeface="Arial" panose="020B0604020202020204" pitchFamily="34" charset="0"/>
                <a:cs typeface="Arial" panose="020B0604020202020204" pitchFamily="34" charset="0"/>
                <a:hlinkClick r:id="rId2"/>
              </a:rPr>
              <a:t>https://claude.ai</a:t>
            </a:r>
            <a:r>
              <a:rPr lang="en-US" sz="1200" dirty="0">
                <a:latin typeface="Arial" panose="020B0604020202020204" pitchFamily="34" charset="0"/>
                <a:cs typeface="Arial" panose="020B0604020202020204" pitchFamily="34" charset="0"/>
              </a:rPr>
              <a:t> (Accessed: 13 March 2026).</a:t>
            </a:r>
          </a:p>
          <a:p>
            <a:endParaRPr lang="en-GB" dirty="0"/>
          </a:p>
        </p:txBody>
      </p:sp>
    </p:spTree>
    <p:extLst>
      <p:ext uri="{BB962C8B-B14F-4D97-AF65-F5344CB8AC3E}">
        <p14:creationId xmlns:p14="http://schemas.microsoft.com/office/powerpoint/2010/main" val="776154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0109F3-0B63-6CCB-CF6B-1334148C5370}"/>
              </a:ext>
            </a:extLst>
          </p:cNvPr>
          <p:cNvSpPr txBox="1"/>
          <p:nvPr/>
        </p:nvSpPr>
        <p:spPr>
          <a:xfrm>
            <a:off x="2342585" y="1012954"/>
            <a:ext cx="6097508" cy="4832092"/>
          </a:xfrm>
          <a:prstGeom prst="rect">
            <a:avLst/>
          </a:prstGeom>
          <a:noFill/>
        </p:spPr>
        <p:txBody>
          <a:bodyPr wrap="square">
            <a:spAutoFit/>
          </a:bodyPr>
          <a:lstStyle/>
          <a:p>
            <a:pPr algn="l" rtl="0">
              <a:buNone/>
            </a:pPr>
            <a:r>
              <a:rPr lang="en-GB" sz="1400" b="1" i="0" dirty="0">
                <a:solidFill>
                  <a:srgbClr val="000000"/>
                </a:solidFill>
                <a:effectLst/>
                <a:latin typeface="roboto" panose="020F0502020204030204" pitchFamily="2" charset="0"/>
              </a:rPr>
              <a:t>Strengths</a:t>
            </a:r>
            <a:endParaRPr lang="en-GB" sz="1400" b="0" i="0" dirty="0">
              <a:solidFill>
                <a:srgbClr val="283041"/>
              </a:solidFill>
              <a:effectLst/>
              <a:latin typeface="roboto" panose="020F0502020204030204" pitchFamily="2" charset="0"/>
            </a:endParaRP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Strong and well-executed analysis,  clear use of ARIMA modelling with appropriate statistical tests (ADF, ACF/PACF) and solid justification of model choice.</a:t>
            </a: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Excellent communication of results ; metrics like MAE are clearly presented and interpreted, making the model performance easy to understand.</a:t>
            </a: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Very strong impact evaluation, clear business value (e.g. 25 analyst days saved, improved forecasting for budgets) and strong linkage to decision-making.</a:t>
            </a:r>
          </a:p>
          <a:p>
            <a:pPr algn="l" rtl="0">
              <a:buNone/>
            </a:pPr>
            <a:r>
              <a:rPr lang="en-GB" sz="1400" b="1" i="0" dirty="0">
                <a:solidFill>
                  <a:srgbClr val="000000"/>
                </a:solidFill>
                <a:effectLst/>
                <a:latin typeface="roboto" panose="020F0502020204030204" pitchFamily="2" charset="0"/>
              </a:rPr>
              <a:t>Areas of improvement</a:t>
            </a:r>
            <a:endParaRPr lang="en-GB" sz="1400" b="0" i="0" dirty="0">
              <a:solidFill>
                <a:srgbClr val="283041"/>
              </a:solidFill>
              <a:effectLst/>
              <a:latin typeface="roboto" panose="020F0502020204030204" pitchFamily="2" charset="0"/>
            </a:endParaRP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Simplify some explanations — parts are quite dense and academic; slightly clearer wording would improve accessibility for a broader audience.</a:t>
            </a: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Balance technical vs business focus — very strong technically, but could emphasise business implications slightly earlier in sections.</a:t>
            </a:r>
          </a:p>
          <a:p>
            <a:pPr algn="l" rtl="0">
              <a:buFont typeface="Arial" panose="020B0604020202020204" pitchFamily="34" charset="0"/>
              <a:buChar char="•"/>
            </a:pPr>
            <a:r>
              <a:rPr lang="en-GB" sz="1400" b="0" i="0" dirty="0">
                <a:solidFill>
                  <a:srgbClr val="000000"/>
                </a:solidFill>
                <a:effectLst/>
                <a:latin typeface="roboto" panose="020F0502020204030204" pitchFamily="2" charset="0"/>
              </a:rPr>
              <a:t>Add a bit more on data limitations, briefly outline any constraints in the dataset (e.g. aggregation choices, missing data impact).</a:t>
            </a:r>
          </a:p>
          <a:p>
            <a:pPr algn="l" rtl="0">
              <a:buNone/>
            </a:pPr>
            <a:r>
              <a:rPr lang="en-GB" sz="1400" b="1" i="0" dirty="0">
                <a:solidFill>
                  <a:srgbClr val="000000"/>
                </a:solidFill>
                <a:effectLst/>
                <a:latin typeface="roboto" panose="020F0502020204030204" pitchFamily="2" charset="0"/>
              </a:rPr>
              <a:t>Overall comments</a:t>
            </a:r>
            <a:endParaRPr lang="en-GB" sz="1400" b="0" i="0" dirty="0">
              <a:solidFill>
                <a:srgbClr val="283041"/>
              </a:solidFill>
              <a:effectLst/>
              <a:latin typeface="roboto" panose="020F0502020204030204" pitchFamily="2" charset="0"/>
            </a:endParaRPr>
          </a:p>
          <a:p>
            <a:pPr algn="l" rtl="0">
              <a:buNone/>
            </a:pPr>
            <a:r>
              <a:rPr lang="en-GB" sz="1400" b="0" i="0" dirty="0">
                <a:solidFill>
                  <a:srgbClr val="000000"/>
                </a:solidFill>
                <a:effectLst/>
                <a:latin typeface="roboto" panose="020F0502020204030204" pitchFamily="2" charset="0"/>
              </a:rPr>
              <a:t>This is a very strong formative with excellent technical execution and clear real-world application. The modelling is well justified, and the impact evaluation demonstrates strong business awareness and value. Brilliant work.</a:t>
            </a:r>
            <a:endParaRPr lang="en-GB" sz="1400" b="1" i="0" dirty="0">
              <a:solidFill>
                <a:srgbClr val="283041"/>
              </a:solidFill>
              <a:effectLst/>
              <a:latin typeface="roboto" panose="020F0502020204030204" pitchFamily="2" charset="0"/>
            </a:endParaRPr>
          </a:p>
        </p:txBody>
      </p:sp>
      <p:pic>
        <p:nvPicPr>
          <p:cNvPr id="4" name="Picture 3">
            <a:extLst>
              <a:ext uri="{FF2B5EF4-FFF2-40B4-BE49-F238E27FC236}">
                <a16:creationId xmlns:a16="http://schemas.microsoft.com/office/drawing/2014/main" id="{D12B5B78-288B-FF9D-F861-0CFA77F5D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809625"/>
            <a:ext cx="10210800" cy="5238750"/>
          </a:xfrm>
          <a:prstGeom prst="rect">
            <a:avLst/>
          </a:prstGeom>
        </p:spPr>
      </p:pic>
    </p:spTree>
    <p:extLst>
      <p:ext uri="{BB962C8B-B14F-4D97-AF65-F5344CB8AC3E}">
        <p14:creationId xmlns:p14="http://schemas.microsoft.com/office/powerpoint/2010/main" val="1501896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3588</TotalTime>
  <Words>3788</Words>
  <Application>Microsoft Office PowerPoint</Application>
  <PresentationFormat>Widescreen</PresentationFormat>
  <Paragraphs>292</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Bret Addison</dc:creator>
  <cp:lastModifiedBy>Bret Addison</cp:lastModifiedBy>
  <cp:revision>6</cp:revision>
  <dcterms:created xsi:type="dcterms:W3CDTF">2026-03-10T13:11:09Z</dcterms:created>
  <dcterms:modified xsi:type="dcterms:W3CDTF">2026-04-18T16:25:25Z</dcterms:modified>
</cp:coreProperties>
</file>